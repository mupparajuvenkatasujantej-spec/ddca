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Lora" panose="020F0502020204030204" pitchFamily="2" charset="0"/>
      <p:regular r:id="rId13"/>
    </p:embeddedFont>
    <p:embeddedFont>
      <p:font typeface="Source Sans 3" panose="020B0604020202020204" charset="0"/>
      <p:regular r:id="rId14"/>
    </p:embeddedFont>
    <p:embeddedFont>
      <p:font typeface="Source Sans 3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80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A24"/>
          </a:solidFill>
          <a:ln/>
        </p:spPr>
        <p:txBody>
          <a:bodyPr/>
          <a:p/>
        </p:txBody>
      </p:sp>
      <p:sp>
        <p:nvSpPr>
          <p:cNvPr id="3" name="Shape 1"/>
          <p:cNvSpPr/>
          <p:nvPr/>
        </p:nvSpPr>
        <p:spPr>
          <a:xfrm>
            <a:off x="0" y="0"/>
            <a:ext cx="12191695" cy="6858000"/>
          </a:xfrm>
          <a:prstGeom prst="rect">
            <a:avLst/>
          </a:prstGeom>
          <a:solidFill>
            <a:srgbClr val="252833"/>
          </a:solidFill>
          <a:ln/>
        </p:spPr>
        <p:txBody>
          <a:body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444752"/>
          </a:solidFill>
          <a:ln/>
        </p:spPr>
        <p:txBody>
          <a:bodyPr/>
          <a:p/>
        </p:txBody>
      </p:sp>
      <p:pic>
        <p:nvPicPr>
          <p:cNvPr id="3" name="Image 0" descr="preencoded.png"/>
          <p:cNvPicPr>
            <a:picLocks noChangeAspect="1"/>
          </p:cNvPicPr>
          <p:nvPr/>
        </p:nvPicPr>
        <p:blipFill>
          <a:blip r:embed="rId3"/>
          <a:stretch>
            <a:fillRect/>
          </a:stretch>
        </p:blipFill>
        <p:spPr>
          <a:xfrm>
            <a:off x="7709501" y="500559"/>
            <a:ext cx="4392403" cy="5856784"/>
          </a:xfrm>
          <a:prstGeom prst="rect">
            <a:avLst/>
          </a:prstGeom>
        </p:spPr>
      </p:pic>
      <p:sp>
        <p:nvSpPr>
          <p:cNvPr id="4" name="Text 1"/>
          <p:cNvSpPr/>
          <p:nvPr/>
        </p:nvSpPr>
        <p:spPr>
          <a:xfrm>
            <a:off x="698086" y="1246684"/>
            <a:ext cx="6223638" cy="1584127"/>
          </a:xfrm>
          <a:prstGeom prst="rect">
            <a:avLst/>
          </a:prstGeom>
          <a:noFill/>
          <a:ln/>
        </p:spPr>
        <p:txBody>
          <a:bodyPr wrap="square" lIns="0" tIns="0" rIns="0" bIns="0" rtlCol="0" anchor="t">
            <a:normAutofit/>
          </a:bodyPr>
          <a:lstStyle/>
          <a:p>
            <a:pPr marL="0" indent="0" algn="l">
              <a:lnSpc>
                <a:spcPct val="104000"/>
              </a:lnSpc>
              <a:buNone/>
            </a:pPr>
            <a:r>
              <a:rPr lang="en-US" sz="3300" dirty="0">
                <a:solidFill>
                  <a:srgbClr val="F98AC7"/>
                </a:solidFill>
                <a:latin typeface="Lora" pitchFamily="34" charset="0"/>
                <a:ea typeface="Lora" pitchFamily="34" charset="-122"/>
                <a:cs typeface="Lora" pitchFamily="34" charset="-120"/>
              </a:rPr>
              <a:t>Design and Simulation of a Physical Even and Odd Parity Generator Using XOR Gates</a:t>
            </a:r>
            <a:endParaRPr lang="en-US" sz="3300" dirty="0"/>
          </a:p>
        </p:txBody>
      </p:sp>
      <p:sp>
        <p:nvSpPr>
          <p:cNvPr id="5" name="Text 2"/>
          <p:cNvSpPr/>
          <p:nvPr/>
        </p:nvSpPr>
        <p:spPr>
          <a:xfrm>
            <a:off x="698086" y="3073102"/>
            <a:ext cx="6833223" cy="272752"/>
          </a:xfrm>
          <a:prstGeom prst="rect">
            <a:avLst/>
          </a:prstGeom>
          <a:noFill/>
          <a:ln/>
        </p:spPr>
        <p:txBody>
          <a:bodyPr wrap="none" lIns="0" tIns="0" rIns="0" bIns="0" rtlCol="0" anchor="t"/>
          <a:lstStyle/>
          <a:p>
            <a:pPr marL="0" indent="0" algn="l">
              <a:lnSpc>
                <a:spcPct val="127000"/>
              </a:lnSpc>
              <a:buNone/>
            </a:pPr>
            <a:r>
              <a:rPr lang="en-US" sz="1400" dirty="0">
                <a:solidFill>
                  <a:srgbClr val="D6E5EF"/>
                </a:solidFill>
                <a:latin typeface="Source Sans 3" pitchFamily="34" charset="0"/>
                <a:ea typeface="Source Sans 3" pitchFamily="34" charset="-122"/>
                <a:cs typeface="Source Sans 3" pitchFamily="34" charset="-120"/>
              </a:rPr>
              <a:t>Digital Design &amp; Computer Architecture – PBL Project</a:t>
            </a:r>
            <a:endParaRPr lang="en-US" sz="1400" dirty="0"/>
          </a:p>
        </p:txBody>
      </p:sp>
      <p:sp>
        <p:nvSpPr>
          <p:cNvPr id="6" name="Shape 3"/>
          <p:cNvSpPr/>
          <p:nvPr/>
        </p:nvSpPr>
        <p:spPr>
          <a:xfrm>
            <a:off x="698086" y="3527623"/>
            <a:ext cx="3031057" cy="2083693"/>
          </a:xfrm>
          <a:prstGeom prst="roundRect">
            <a:avLst>
              <a:gd name="adj" fmla="val 1292"/>
            </a:avLst>
          </a:prstGeom>
          <a:solidFill>
            <a:srgbClr val="444752"/>
          </a:solidFill>
          <a:ln/>
        </p:spPr>
        <p:txBody>
          <a:bodyPr/>
          <a:p/>
        </p:txBody>
      </p:sp>
      <p:sp>
        <p:nvSpPr>
          <p:cNvPr id="7" name="Text 4"/>
          <p:cNvSpPr/>
          <p:nvPr/>
        </p:nvSpPr>
        <p:spPr>
          <a:xfrm>
            <a:off x="877568" y="3707110"/>
            <a:ext cx="2672093" cy="264021"/>
          </a:xfrm>
          <a:prstGeom prst="rect">
            <a:avLst/>
          </a:prstGeom>
          <a:noFill/>
          <a:ln/>
        </p:spPr>
        <p:txBody>
          <a:bodyPr wrap="none" lIns="0" tIns="0" rIns="0" bIns="0" rtlCol="0" anchor="t"/>
          <a:lstStyle/>
          <a:p>
            <a:pPr marL="0" indent="0" algn="l">
              <a:lnSpc>
                <a:spcPct val="104000"/>
              </a:lnSpc>
              <a:buNone/>
            </a:pPr>
            <a:r>
              <a:rPr lang="en-US" sz="1650" dirty="0">
                <a:solidFill>
                  <a:srgbClr val="D6E5EF"/>
                </a:solidFill>
                <a:latin typeface="Lora" pitchFamily="34" charset="0"/>
                <a:ea typeface="Lora" pitchFamily="34" charset="-122"/>
                <a:cs typeface="Lora" pitchFamily="34" charset="-120"/>
              </a:rPr>
              <a:t>Team Members</a:t>
            </a:r>
            <a:endParaRPr lang="en-US" sz="1650" dirty="0"/>
          </a:p>
        </p:txBody>
      </p:sp>
      <p:sp>
        <p:nvSpPr>
          <p:cNvPr id="8" name="Text 5"/>
          <p:cNvSpPr/>
          <p:nvPr/>
        </p:nvSpPr>
        <p:spPr>
          <a:xfrm>
            <a:off x="877568" y="4068068"/>
            <a:ext cx="2672093" cy="1363762"/>
          </a:xfrm>
          <a:prstGeom prst="rect">
            <a:avLst/>
          </a:prstGeom>
          <a:noFill/>
          <a:ln/>
        </p:spPr>
        <p:txBody>
          <a:bodyPr wrap="square" lIns="0" tIns="0" rIns="0" bIns="0" rtlCol="0" anchor="t">
            <a:normAutofit/>
          </a:bodyPr>
          <a:lstStyle/>
          <a:p>
            <a:pPr marL="0" indent="0" algn="l">
              <a:lnSpc>
                <a:spcPct val="127000"/>
              </a:lnSpc>
              <a:buNone/>
            </a:pPr>
            <a:r>
              <a:rPr lang="en-US" sz="1400" dirty="0">
                <a:solidFill>
                  <a:srgbClr val="D6E5EF"/>
                </a:solidFill>
                <a:latin typeface="Source Sans 3" pitchFamily="34" charset="0"/>
                <a:ea typeface="Source Sans 3" pitchFamily="34" charset="-122"/>
                <a:cs typeface="Source Sans 3" pitchFamily="34" charset="-120"/>
              </a:rPr>
              <a:t>M. SUJAN</a:t>
            </a:r>
            <a:endParaRPr lang="en-US" sz="1400" dirty="0"/>
          </a:p>
          <a:p>
            <a:pPr marL="0" indent="0" algn="l">
              <a:lnSpc>
                <a:spcPct val="127000"/>
              </a:lnSpc>
              <a:buNone/>
            </a:pPr>
            <a:r>
              <a:rPr lang="en-US" sz="1400" dirty="0">
                <a:solidFill>
                  <a:srgbClr val="D6E5EF"/>
                </a:solidFill>
                <a:latin typeface="Source Sans 3" pitchFamily="34" charset="0"/>
                <a:ea typeface="Source Sans 3" pitchFamily="34" charset="-122"/>
                <a:cs typeface="Source Sans 3" pitchFamily="34" charset="-120"/>
              </a:rPr>
              <a:t>ACHSAH .P</a:t>
            </a:r>
            <a:endParaRPr lang="en-US" sz="1400" dirty="0"/>
          </a:p>
          <a:p>
            <a:pPr marL="0" indent="0" algn="l">
              <a:lnSpc>
                <a:spcPct val="127000"/>
              </a:lnSpc>
              <a:buNone/>
            </a:pPr>
            <a:r>
              <a:rPr lang="en-US" sz="1400" dirty="0">
                <a:solidFill>
                  <a:srgbClr val="D6E5EF"/>
                </a:solidFill>
                <a:latin typeface="Source Sans 3" pitchFamily="34" charset="0"/>
                <a:ea typeface="Source Sans 3" pitchFamily="34" charset="-122"/>
                <a:cs typeface="Source Sans 3" pitchFamily="34" charset="-120"/>
              </a:rPr>
              <a:t>A. SAMANVITHA</a:t>
            </a:r>
            <a:endParaRPr lang="en-US" sz="1400" dirty="0"/>
          </a:p>
          <a:p>
            <a:pPr marL="0" indent="0" algn="l">
              <a:lnSpc>
                <a:spcPct val="127000"/>
              </a:lnSpc>
              <a:buNone/>
            </a:pPr>
            <a:r>
              <a:rPr lang="en-US" sz="1400" dirty="0">
                <a:solidFill>
                  <a:srgbClr val="D6E5EF"/>
                </a:solidFill>
                <a:latin typeface="Source Sans 3" pitchFamily="34" charset="0"/>
                <a:ea typeface="Source Sans 3" pitchFamily="34" charset="-122"/>
                <a:cs typeface="Source Sans 3" pitchFamily="34" charset="-120"/>
              </a:rPr>
              <a:t>S. MOKSHITH</a:t>
            </a:r>
            <a:endParaRPr lang="en-US" sz="1400" dirty="0"/>
          </a:p>
          <a:p>
            <a:pPr marL="0" indent="0" algn="l">
              <a:lnSpc>
                <a:spcPct val="127000"/>
              </a:lnSpc>
              <a:buNone/>
            </a:pPr>
            <a:r>
              <a:rPr lang="en-US" sz="1400" dirty="0">
                <a:solidFill>
                  <a:srgbClr val="D6E5EF"/>
                </a:solidFill>
                <a:latin typeface="Source Sans 3" pitchFamily="34" charset="0"/>
                <a:ea typeface="Source Sans 3" pitchFamily="34" charset="-122"/>
                <a:cs typeface="Source Sans 3" pitchFamily="34" charset="-120"/>
              </a:rPr>
              <a:t>Y. RESHMA</a:t>
            </a:r>
            <a:endParaRPr lang="en-US" sz="1400" dirty="0"/>
          </a:p>
        </p:txBody>
      </p:sp>
      <p:sp>
        <p:nvSpPr>
          <p:cNvPr id="9" name="Shape 6"/>
          <p:cNvSpPr/>
          <p:nvPr/>
        </p:nvSpPr>
        <p:spPr>
          <a:xfrm>
            <a:off x="3890667" y="3527623"/>
            <a:ext cx="3031057" cy="2083693"/>
          </a:xfrm>
          <a:prstGeom prst="roundRect">
            <a:avLst>
              <a:gd name="adj" fmla="val 1292"/>
            </a:avLst>
          </a:prstGeom>
          <a:solidFill>
            <a:srgbClr val="444752"/>
          </a:solidFill>
          <a:ln/>
        </p:spPr>
        <p:txBody>
          <a:bodyPr/>
          <a:p/>
        </p:txBody>
      </p:sp>
      <p:sp>
        <p:nvSpPr>
          <p:cNvPr id="10" name="Text 7"/>
          <p:cNvSpPr/>
          <p:nvPr/>
        </p:nvSpPr>
        <p:spPr>
          <a:xfrm>
            <a:off x="4070149" y="3707110"/>
            <a:ext cx="2672093" cy="264021"/>
          </a:xfrm>
          <a:prstGeom prst="rect">
            <a:avLst/>
          </a:prstGeom>
          <a:noFill/>
          <a:ln/>
        </p:spPr>
        <p:txBody>
          <a:bodyPr wrap="none" lIns="0" tIns="0" rIns="0" bIns="0" rtlCol="0" anchor="t"/>
          <a:lstStyle/>
          <a:p>
            <a:pPr marL="0" indent="0" algn="l">
              <a:lnSpc>
                <a:spcPct val="104000"/>
              </a:lnSpc>
              <a:buNone/>
            </a:pPr>
            <a:r>
              <a:rPr lang="en-US" sz="1650" dirty="0">
                <a:solidFill>
                  <a:srgbClr val="D6E5EF"/>
                </a:solidFill>
                <a:latin typeface="Lora" pitchFamily="34" charset="0"/>
                <a:ea typeface="Lora" pitchFamily="34" charset="-122"/>
                <a:cs typeface="Lora" pitchFamily="34" charset="-120"/>
              </a:rPr>
              <a:t>Academic Year</a:t>
            </a:r>
            <a:endParaRPr lang="en-US" sz="1650" dirty="0"/>
          </a:p>
        </p:txBody>
      </p:sp>
      <p:sp>
        <p:nvSpPr>
          <p:cNvPr id="11" name="Text 8"/>
          <p:cNvSpPr/>
          <p:nvPr/>
        </p:nvSpPr>
        <p:spPr>
          <a:xfrm>
            <a:off x="4070149" y="4068068"/>
            <a:ext cx="2672093" cy="272752"/>
          </a:xfrm>
          <a:prstGeom prst="rect">
            <a:avLst/>
          </a:prstGeom>
          <a:noFill/>
          <a:ln/>
        </p:spPr>
        <p:txBody>
          <a:bodyPr wrap="none" lIns="0" tIns="0" rIns="0" bIns="0" rtlCol="0" anchor="t"/>
          <a:lstStyle/>
          <a:p>
            <a:pPr marL="0" indent="0" algn="l">
              <a:lnSpc>
                <a:spcPct val="127000"/>
              </a:lnSpc>
              <a:buNone/>
            </a:pPr>
            <a:r>
              <a:rPr lang="en-US" sz="1400" dirty="0">
                <a:solidFill>
                  <a:srgbClr val="D6E5EF"/>
                </a:solidFill>
                <a:latin typeface="Source Sans 3" pitchFamily="34" charset="0"/>
                <a:ea typeface="Source Sans 3" pitchFamily="34" charset="-122"/>
                <a:cs typeface="Source Sans 3" pitchFamily="34" charset="-120"/>
              </a:rPr>
              <a:t>2024–2025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444752"/>
          </a:solidFill>
          <a:ln/>
        </p:spPr>
        <p:txBody>
          <a:bodyPr/>
          <a:p/>
        </p:txBody>
      </p:sp>
      <p:pic>
        <p:nvPicPr>
          <p:cNvPr id="3" name="Image 0" descr="preencoded.png"/>
          <p:cNvPicPr>
            <a:picLocks noChangeAspect="1"/>
          </p:cNvPicPr>
          <p:nvPr/>
        </p:nvPicPr>
        <p:blipFill>
          <a:blip r:embed="rId3"/>
          <a:stretch>
            <a:fillRect/>
          </a:stretch>
        </p:blipFill>
        <p:spPr>
          <a:xfrm>
            <a:off x="78480" y="485676"/>
            <a:ext cx="4414826" cy="5886648"/>
          </a:xfrm>
          <a:prstGeom prst="rect">
            <a:avLst/>
          </a:prstGeom>
        </p:spPr>
      </p:pic>
      <p:sp>
        <p:nvSpPr>
          <p:cNvPr id="4" name="Text 1"/>
          <p:cNvSpPr/>
          <p:nvPr/>
        </p:nvSpPr>
        <p:spPr>
          <a:xfrm>
            <a:off x="5269971" y="586383"/>
            <a:ext cx="6223638" cy="923925"/>
          </a:xfrm>
          <a:prstGeom prst="rect">
            <a:avLst/>
          </a:prstGeom>
          <a:noFill/>
          <a:ln/>
        </p:spPr>
        <p:txBody>
          <a:bodyPr wrap="square" lIns="0" tIns="0" rIns="0" bIns="0" rtlCol="0" anchor="t">
            <a:normAutofit/>
          </a:bodyPr>
          <a:lstStyle/>
          <a:p>
            <a:pPr marL="0" indent="0" algn="l">
              <a:lnSpc>
                <a:spcPct val="104000"/>
              </a:lnSpc>
              <a:buNone/>
            </a:pPr>
            <a:r>
              <a:rPr lang="en-US" sz="2900" dirty="0">
                <a:solidFill>
                  <a:srgbClr val="F98AC7"/>
                </a:solidFill>
                <a:latin typeface="Lora" pitchFamily="34" charset="0"/>
                <a:ea typeface="Lora" pitchFamily="34" charset="-122"/>
                <a:cs typeface="Lora" pitchFamily="34" charset="-120"/>
              </a:rPr>
              <a:t>Introduction to Combinational Logic</a:t>
            </a:r>
            <a:endParaRPr lang="en-US" sz="29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69971" y="1695847"/>
            <a:ext cx="6223638" cy="881955"/>
          </a:xfrm>
          <a:prstGeom prst="rect">
            <a:avLst/>
          </a:prstGeom>
        </p:spPr>
      </p:pic>
      <p:sp>
        <p:nvSpPr>
          <p:cNvPr id="6" name="Text 2"/>
          <p:cNvSpPr/>
          <p:nvPr/>
        </p:nvSpPr>
        <p:spPr>
          <a:xfrm>
            <a:off x="5522278" y="1871960"/>
            <a:ext cx="5795222" cy="230981"/>
          </a:xfrm>
          <a:prstGeom prst="rect">
            <a:avLst/>
          </a:prstGeom>
          <a:noFill/>
          <a:ln/>
        </p:spPr>
        <p:txBody>
          <a:bodyPr wrap="none" lIns="0" tIns="0" rIns="0" bIns="0" rtlCol="0" anchor="t"/>
          <a:lstStyle/>
          <a:p>
            <a:pPr marL="0" indent="0" algn="l">
              <a:lnSpc>
                <a:spcPct val="104000"/>
              </a:lnSpc>
              <a:buNone/>
            </a:pPr>
            <a:r>
              <a:rPr lang="en-US" sz="1450" dirty="0">
                <a:solidFill>
                  <a:srgbClr val="D6E5EF"/>
                </a:solidFill>
                <a:latin typeface="Lora" pitchFamily="34" charset="0"/>
                <a:ea typeface="Lora" pitchFamily="34" charset="-122"/>
                <a:cs typeface="Lora" pitchFamily="34" charset="-120"/>
              </a:rPr>
              <a:t>Combinational Circuit</a:t>
            </a:r>
            <a:endParaRPr lang="en-US" sz="1450" dirty="0"/>
          </a:p>
        </p:txBody>
      </p:sp>
      <p:sp>
        <p:nvSpPr>
          <p:cNvPr id="7" name="Text 3"/>
          <p:cNvSpPr/>
          <p:nvPr/>
        </p:nvSpPr>
        <p:spPr>
          <a:xfrm>
            <a:off x="5522278" y="2177157"/>
            <a:ext cx="5795222" cy="224532"/>
          </a:xfrm>
          <a:prstGeom prst="rect">
            <a:avLst/>
          </a:prstGeom>
          <a:noFill/>
          <a:ln/>
        </p:spPr>
        <p:txBody>
          <a:bodyPr wrap="none" lIns="0" tIns="0" rIns="0" bIns="0" rtlCol="0" anchor="t"/>
          <a:lstStyle/>
          <a:p>
            <a:pPr marL="0" indent="0" algn="l">
              <a:lnSpc>
                <a:spcPct val="119000"/>
              </a:lnSpc>
              <a:buNone/>
            </a:pPr>
            <a:r>
              <a:rPr lang="en-US" sz="1200" dirty="0">
                <a:solidFill>
                  <a:srgbClr val="D6E5EF"/>
                </a:solidFill>
                <a:latin typeface="Source Sans 3" pitchFamily="34" charset="0"/>
                <a:ea typeface="Source Sans 3" pitchFamily="34" charset="-122"/>
                <a:cs typeface="Source Sans 3" pitchFamily="34" charset="-120"/>
              </a:rPr>
              <a:t>Output depends </a:t>
            </a:r>
            <a:r>
              <a:rPr lang="en-US" sz="1200" b="1" dirty="0">
                <a:solidFill>
                  <a:srgbClr val="D6E5EF"/>
                </a:solidFill>
                <a:latin typeface="Source Sans 3 Bold" pitchFamily="34" charset="0"/>
                <a:ea typeface="Source Sans 3 Bold" pitchFamily="34" charset="-122"/>
                <a:cs typeface="Source Sans 3 Bold" pitchFamily="34" charset="-120"/>
              </a:rPr>
              <a:t>only on current inputs</a:t>
            </a:r>
            <a:r>
              <a:rPr lang="en-US" sz="1200" dirty="0">
                <a:solidFill>
                  <a:srgbClr val="D6E5EF"/>
                </a:solidFill>
                <a:latin typeface="Source Sans 3" pitchFamily="34" charset="0"/>
                <a:ea typeface="Source Sans 3" pitchFamily="34" charset="-122"/>
                <a:cs typeface="Source Sans 3" pitchFamily="34" charset="-120"/>
              </a:rPr>
              <a:t> — no memory of previous states.</a:t>
            </a:r>
            <a:endParaRPr lang="en-US" sz="12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69971" y="2701429"/>
            <a:ext cx="6223638" cy="881955"/>
          </a:xfrm>
          <a:prstGeom prst="rect">
            <a:avLst/>
          </a:prstGeom>
        </p:spPr>
      </p:pic>
      <p:sp>
        <p:nvSpPr>
          <p:cNvPr id="9" name="Text 4"/>
          <p:cNvSpPr/>
          <p:nvPr/>
        </p:nvSpPr>
        <p:spPr>
          <a:xfrm>
            <a:off x="5522278" y="2877542"/>
            <a:ext cx="5795222" cy="230981"/>
          </a:xfrm>
          <a:prstGeom prst="rect">
            <a:avLst/>
          </a:prstGeom>
          <a:noFill/>
          <a:ln/>
        </p:spPr>
        <p:txBody>
          <a:bodyPr wrap="none" lIns="0" tIns="0" rIns="0" bIns="0" rtlCol="0" anchor="t"/>
          <a:lstStyle/>
          <a:p>
            <a:pPr marL="0" indent="0" algn="l">
              <a:lnSpc>
                <a:spcPct val="104000"/>
              </a:lnSpc>
              <a:buNone/>
            </a:pPr>
            <a:r>
              <a:rPr lang="en-US" sz="1450" dirty="0">
                <a:solidFill>
                  <a:srgbClr val="D6E5EF"/>
                </a:solidFill>
                <a:latin typeface="Lora" pitchFamily="34" charset="0"/>
                <a:ea typeface="Lora" pitchFamily="34" charset="-122"/>
                <a:cs typeface="Lora" pitchFamily="34" charset="-120"/>
              </a:rPr>
              <a:t>No Memory Element</a:t>
            </a:r>
            <a:endParaRPr lang="en-US" sz="1450" dirty="0"/>
          </a:p>
        </p:txBody>
      </p:sp>
      <p:sp>
        <p:nvSpPr>
          <p:cNvPr id="10" name="Text 5"/>
          <p:cNvSpPr/>
          <p:nvPr/>
        </p:nvSpPr>
        <p:spPr>
          <a:xfrm>
            <a:off x="5522278" y="3182739"/>
            <a:ext cx="5795222" cy="224532"/>
          </a:xfrm>
          <a:prstGeom prst="rect">
            <a:avLst/>
          </a:prstGeom>
          <a:noFill/>
          <a:ln/>
        </p:spPr>
        <p:txBody>
          <a:bodyPr wrap="none" lIns="0" tIns="0" rIns="0" bIns="0" rtlCol="0" anchor="t"/>
          <a:lstStyle/>
          <a:p>
            <a:pPr marL="0" indent="0" algn="l">
              <a:lnSpc>
                <a:spcPct val="119000"/>
              </a:lnSpc>
              <a:buNone/>
            </a:pPr>
            <a:r>
              <a:rPr lang="en-US" sz="1200" dirty="0">
                <a:solidFill>
                  <a:srgbClr val="D6E5EF"/>
                </a:solidFill>
                <a:latin typeface="Source Sans 3" pitchFamily="34" charset="0"/>
                <a:ea typeface="Source Sans 3" pitchFamily="34" charset="-122"/>
                <a:cs typeface="Source Sans 3" pitchFamily="34" charset="-120"/>
              </a:rPr>
              <a:t>Unlike sequential circuits, combinational logic does not store any previous input states.</a:t>
            </a:r>
            <a:endParaRPr lang="en-US" sz="12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69971" y="3707011"/>
            <a:ext cx="6223638" cy="881955"/>
          </a:xfrm>
          <a:prstGeom prst="rect">
            <a:avLst/>
          </a:prstGeom>
        </p:spPr>
      </p:pic>
      <p:sp>
        <p:nvSpPr>
          <p:cNvPr id="12" name="Text 6"/>
          <p:cNvSpPr/>
          <p:nvPr/>
        </p:nvSpPr>
        <p:spPr>
          <a:xfrm>
            <a:off x="5522278" y="3883124"/>
            <a:ext cx="5795222" cy="230981"/>
          </a:xfrm>
          <a:prstGeom prst="rect">
            <a:avLst/>
          </a:prstGeom>
          <a:noFill/>
          <a:ln/>
        </p:spPr>
        <p:txBody>
          <a:bodyPr wrap="none" lIns="0" tIns="0" rIns="0" bIns="0" rtlCol="0" anchor="t"/>
          <a:lstStyle/>
          <a:p>
            <a:pPr marL="0" indent="0" algn="l">
              <a:lnSpc>
                <a:spcPct val="104000"/>
              </a:lnSpc>
              <a:buNone/>
            </a:pPr>
            <a:r>
              <a:rPr lang="en-US" sz="1450" dirty="0">
                <a:solidFill>
                  <a:srgbClr val="D6E5EF"/>
                </a:solidFill>
                <a:latin typeface="Lora" pitchFamily="34" charset="0"/>
                <a:ea typeface="Lora" pitchFamily="34" charset="-122"/>
                <a:cs typeface="Lora" pitchFamily="34" charset="-120"/>
              </a:rPr>
              <a:t>Building Blocks</a:t>
            </a:r>
            <a:endParaRPr lang="en-US" sz="1450" dirty="0"/>
          </a:p>
        </p:txBody>
      </p:sp>
      <p:sp>
        <p:nvSpPr>
          <p:cNvPr id="13" name="Text 7"/>
          <p:cNvSpPr/>
          <p:nvPr/>
        </p:nvSpPr>
        <p:spPr>
          <a:xfrm>
            <a:off x="5522278" y="4188321"/>
            <a:ext cx="5795222" cy="224532"/>
          </a:xfrm>
          <a:prstGeom prst="rect">
            <a:avLst/>
          </a:prstGeom>
          <a:noFill/>
          <a:ln/>
        </p:spPr>
        <p:txBody>
          <a:bodyPr wrap="none" lIns="0" tIns="0" rIns="0" bIns="0" rtlCol="0" anchor="t"/>
          <a:lstStyle/>
          <a:p>
            <a:pPr marL="0" indent="0" algn="l">
              <a:lnSpc>
                <a:spcPct val="119000"/>
              </a:lnSpc>
              <a:buNone/>
            </a:pPr>
            <a:r>
              <a:rPr lang="en-US" sz="1200" dirty="0">
                <a:solidFill>
                  <a:srgbClr val="D6E5EF"/>
                </a:solidFill>
                <a:latin typeface="Source Sans 3" pitchFamily="34" charset="0"/>
                <a:ea typeface="Source Sans 3" pitchFamily="34" charset="-122"/>
                <a:cs typeface="Source Sans 3" pitchFamily="34" charset="-120"/>
              </a:rPr>
              <a:t>Constructed from fundamental logic gates: AND, OR, XOR, NOT, and their combinations.</a:t>
            </a:r>
            <a:endParaRPr lang="en-US" sz="12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69971" y="4712593"/>
            <a:ext cx="6223638" cy="881955"/>
          </a:xfrm>
          <a:prstGeom prst="rect">
            <a:avLst/>
          </a:prstGeom>
        </p:spPr>
      </p:pic>
      <p:sp>
        <p:nvSpPr>
          <p:cNvPr id="15" name="Text 8"/>
          <p:cNvSpPr/>
          <p:nvPr/>
        </p:nvSpPr>
        <p:spPr>
          <a:xfrm>
            <a:off x="5522278" y="4888706"/>
            <a:ext cx="5795222" cy="230981"/>
          </a:xfrm>
          <a:prstGeom prst="rect">
            <a:avLst/>
          </a:prstGeom>
          <a:noFill/>
          <a:ln/>
        </p:spPr>
        <p:txBody>
          <a:bodyPr wrap="none" lIns="0" tIns="0" rIns="0" bIns="0" rtlCol="0" anchor="t"/>
          <a:lstStyle/>
          <a:p>
            <a:pPr marL="0" indent="0" algn="l">
              <a:lnSpc>
                <a:spcPct val="104000"/>
              </a:lnSpc>
              <a:buNone/>
            </a:pPr>
            <a:r>
              <a:rPr lang="en-US" sz="1450" dirty="0">
                <a:solidFill>
                  <a:srgbClr val="D6E5EF"/>
                </a:solidFill>
                <a:latin typeface="Lora" pitchFamily="34" charset="0"/>
                <a:ea typeface="Lora" pitchFamily="34" charset="-122"/>
                <a:cs typeface="Lora" pitchFamily="34" charset="-120"/>
              </a:rPr>
              <a:t>Parity Generator</a:t>
            </a:r>
            <a:endParaRPr lang="en-US" sz="1450" dirty="0"/>
          </a:p>
        </p:txBody>
      </p:sp>
      <p:sp>
        <p:nvSpPr>
          <p:cNvPr id="16" name="Text 9"/>
          <p:cNvSpPr/>
          <p:nvPr/>
        </p:nvSpPr>
        <p:spPr>
          <a:xfrm>
            <a:off x="5522278" y="5193903"/>
            <a:ext cx="5795222" cy="224532"/>
          </a:xfrm>
          <a:prstGeom prst="rect">
            <a:avLst/>
          </a:prstGeom>
          <a:noFill/>
          <a:ln/>
        </p:spPr>
        <p:txBody>
          <a:bodyPr wrap="none" lIns="0" tIns="0" rIns="0" bIns="0" rtlCol="0" anchor="t"/>
          <a:lstStyle/>
          <a:p>
            <a:pPr marL="0" indent="0" algn="l">
              <a:lnSpc>
                <a:spcPct val="119000"/>
              </a:lnSpc>
              <a:buNone/>
            </a:pPr>
            <a:r>
              <a:rPr lang="en-US" sz="1200" dirty="0">
                <a:solidFill>
                  <a:srgbClr val="D6E5EF"/>
                </a:solidFill>
                <a:latin typeface="Source Sans 3" pitchFamily="34" charset="0"/>
                <a:ea typeface="Source Sans 3" pitchFamily="34" charset="-122"/>
                <a:cs typeface="Source Sans 3" pitchFamily="34" charset="-120"/>
              </a:rPr>
              <a:t>A simple, practical, and elegant example of combinational logic in action.</a:t>
            </a:r>
            <a:endParaRPr lang="en-US" sz="1200" dirty="0"/>
          </a:p>
        </p:txBody>
      </p:sp>
      <p:sp>
        <p:nvSpPr>
          <p:cNvPr id="17" name="Shape 10"/>
          <p:cNvSpPr/>
          <p:nvPr/>
        </p:nvSpPr>
        <p:spPr>
          <a:xfrm>
            <a:off x="5269971" y="5733653"/>
            <a:ext cx="6223638" cy="537865"/>
          </a:xfrm>
          <a:prstGeom prst="roundRect">
            <a:avLst>
              <a:gd name="adj" fmla="val 4381"/>
            </a:avLst>
          </a:prstGeom>
          <a:solidFill>
            <a:srgbClr val="790645"/>
          </a:solidFill>
          <a:ln/>
        </p:spPr>
        <p:txBody>
          <a:bodyPr/>
          <a:p/>
        </p:txBody>
      </p:sp>
      <p:pic>
        <p:nvPicPr>
          <p:cNvPr id="18" name="Image 5" descr="preencoded.png"/>
          <p:cNvPicPr>
            <a:picLocks noChangeAspect="1"/>
          </p:cNvPicPr>
          <p:nvPr/>
        </p:nvPicPr>
        <p:blipFill>
          <a:blip r:embed="rId5"/>
          <a:stretch>
            <a:fillRect/>
          </a:stretch>
        </p:blipFill>
        <p:spPr>
          <a:xfrm>
            <a:off x="5427031" y="5911354"/>
            <a:ext cx="196349" cy="157063"/>
          </a:xfrm>
          <a:prstGeom prst="rect">
            <a:avLst/>
          </a:prstGeom>
        </p:spPr>
      </p:pic>
      <p:sp>
        <p:nvSpPr>
          <p:cNvPr id="19" name="Text 11"/>
          <p:cNvSpPr/>
          <p:nvPr/>
        </p:nvSpPr>
        <p:spPr>
          <a:xfrm>
            <a:off x="5780439" y="5896471"/>
            <a:ext cx="6165696" cy="224532"/>
          </a:xfrm>
          <a:prstGeom prst="rect">
            <a:avLst/>
          </a:prstGeom>
          <a:noFill/>
          <a:ln/>
        </p:spPr>
        <p:txBody>
          <a:bodyPr wrap="none" lIns="0" tIns="0" rIns="0" bIns="0" rtlCol="0" anchor="t"/>
          <a:lstStyle/>
          <a:p>
            <a:pPr marL="0" indent="0" algn="l">
              <a:lnSpc>
                <a:spcPct val="119000"/>
              </a:lnSpc>
              <a:buNone/>
            </a:pPr>
            <a:r>
              <a:rPr lang="en-US" sz="1200" b="1" dirty="0">
                <a:solidFill>
                  <a:srgbClr val="FFFFFF"/>
                </a:solidFill>
                <a:latin typeface="Source Sans 3 Bold" pitchFamily="34" charset="0"/>
                <a:ea typeface="Source Sans 3 Bold" pitchFamily="34" charset="-122"/>
                <a:cs typeface="Source Sans 3 Bold" pitchFamily="34" charset="-120"/>
              </a:rPr>
              <a:t>Core Principle:</a:t>
            </a:r>
            <a:r>
              <a:rPr lang="en-US" sz="1200" dirty="0">
                <a:solidFill>
                  <a:srgbClr val="FFFFFF"/>
                </a:solidFill>
                <a:latin typeface="Source Sans 3" pitchFamily="34" charset="0"/>
                <a:ea typeface="Source Sans 3" pitchFamily="34" charset="-122"/>
                <a:cs typeface="Source Sans 3" pitchFamily="34" charset="-120"/>
              </a:rPr>
              <a:t> Inputs → Combinational Logic → Output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8086" y="796627"/>
            <a:ext cx="10795524" cy="528042"/>
          </a:xfrm>
          <a:prstGeom prst="rect">
            <a:avLst/>
          </a:prstGeom>
          <a:noFill/>
          <a:ln/>
        </p:spPr>
        <p:txBody>
          <a:bodyPr wrap="none" lIns="0" tIns="0" rIns="0" bIns="0" rtlCol="0" anchor="t"/>
          <a:lstStyle/>
          <a:p>
            <a:pPr marL="0" indent="0" algn="l">
              <a:lnSpc>
                <a:spcPct val="104000"/>
              </a:lnSpc>
              <a:buNone/>
            </a:pPr>
            <a:r>
              <a:rPr lang="en-US" sz="3300" dirty="0">
                <a:solidFill>
                  <a:srgbClr val="F98AC7"/>
                </a:solidFill>
                <a:latin typeface="Lora" pitchFamily="34" charset="0"/>
                <a:ea typeface="Lora" pitchFamily="34" charset="-122"/>
                <a:cs typeface="Lora" pitchFamily="34" charset="-120"/>
              </a:rPr>
              <a:t>The XOR Gate</a:t>
            </a:r>
            <a:endParaRPr lang="en-US" sz="3300" dirty="0"/>
          </a:p>
        </p:txBody>
      </p:sp>
      <p:sp>
        <p:nvSpPr>
          <p:cNvPr id="3" name="Text 1"/>
          <p:cNvSpPr/>
          <p:nvPr/>
        </p:nvSpPr>
        <p:spPr>
          <a:xfrm>
            <a:off x="4636079" y="1728490"/>
            <a:ext cx="6863781" cy="264021"/>
          </a:xfrm>
          <a:prstGeom prst="rect">
            <a:avLst/>
          </a:prstGeom>
          <a:noFill/>
          <a:ln/>
        </p:spPr>
        <p:txBody>
          <a:bodyPr wrap="none" lIns="0" tIns="0" rIns="0" bIns="0" rtlCol="0" anchor="t"/>
          <a:lstStyle/>
          <a:p>
            <a:pPr marL="0" indent="0" algn="l">
              <a:lnSpc>
                <a:spcPct val="104000"/>
              </a:lnSpc>
              <a:buNone/>
            </a:pPr>
            <a:r>
              <a:rPr lang="en-US" sz="1650" dirty="0">
                <a:solidFill>
                  <a:srgbClr val="F98AC7"/>
                </a:solidFill>
                <a:latin typeface="Lora" pitchFamily="34" charset="0"/>
                <a:ea typeface="Lora" pitchFamily="34" charset="-122"/>
                <a:cs typeface="Lora" pitchFamily="34" charset="-120"/>
              </a:rPr>
              <a:t>Exclusive OR (XOR) Gate</a:t>
            </a:r>
            <a:endParaRPr lang="en-US" sz="1650" dirty="0"/>
          </a:p>
        </p:txBody>
      </p:sp>
      <p:sp>
        <p:nvSpPr>
          <p:cNvPr id="4" name="Text 2"/>
          <p:cNvSpPr/>
          <p:nvPr/>
        </p:nvSpPr>
        <p:spPr>
          <a:xfrm>
            <a:off x="4636079" y="2154039"/>
            <a:ext cx="6863781" cy="1108968"/>
          </a:xfrm>
          <a:prstGeom prst="rect">
            <a:avLst/>
          </a:prstGeom>
          <a:noFill/>
          <a:ln/>
        </p:spPr>
        <p:txBody>
          <a:bodyPr wrap="square" lIns="0" tIns="0" rIns="0" bIns="0" rtlCol="0" anchor="t"/>
          <a:lstStyle/>
          <a:p>
            <a:pPr marL="0" indent="0" algn="l">
              <a:lnSpc>
                <a:spcPct val="127000"/>
              </a:lnSpc>
              <a:spcAft>
                <a:spcPts val="1100"/>
              </a:spcAft>
              <a:buNone/>
            </a:pPr>
            <a:r>
              <a:rPr lang="en-US" sz="1400" b="1" dirty="0">
                <a:solidFill>
                  <a:srgbClr val="D6E5EF"/>
                </a:solidFill>
                <a:latin typeface="Source Sans 3 Bold" pitchFamily="34" charset="0"/>
                <a:ea typeface="Source Sans 3 Bold" pitchFamily="34" charset="-122"/>
                <a:cs typeface="Source Sans 3 Bold" pitchFamily="34" charset="-120"/>
              </a:rPr>
              <a:t>Boolean Expression:</a:t>
            </a:r>
            <a:r>
              <a:rPr lang="en-US" sz="1400" dirty="0">
                <a:solidFill>
                  <a:srgbClr val="D6E5EF"/>
                </a:solidFill>
                <a:latin typeface="Source Sans 3" pitchFamily="34" charset="0"/>
                <a:ea typeface="Source Sans 3" pitchFamily="34" charset="-122"/>
                <a:cs typeface="Source Sans 3" pitchFamily="34" charset="-120"/>
              </a:rPr>
              <a:t> </a:t>
            </a:r>
            <a:r>
              <a:rPr lang="en-US" sz="1400" dirty="0">
                <a:solidFill>
                  <a:srgbClr val="6366F1"/>
                </a:solidFill>
                <a:latin typeface="Source Sans 3" pitchFamily="34" charset="0"/>
                <a:ea typeface="Source Sans 3" pitchFamily="34" charset="-122"/>
                <a:cs typeface="Source Sans 3" pitchFamily="34" charset="-120"/>
              </a:rPr>
              <a:t>Y = A ⊕ B</a:t>
            </a:r>
            <a:endParaRPr lang="en-US" sz="1400" dirty="0"/>
          </a:p>
          <a:p>
            <a:pPr marL="0" indent="0" algn="l">
              <a:lnSpc>
                <a:spcPct val="127000"/>
              </a:lnSpc>
              <a:spcAft>
                <a:spcPts val="1100"/>
              </a:spcAft>
              <a:buNone/>
            </a:pPr>
            <a:r>
              <a:rPr lang="en-US" sz="1400" b="1" dirty="0">
                <a:solidFill>
                  <a:srgbClr val="D6E5EF"/>
                </a:solidFill>
                <a:latin typeface="Source Sans 3 Bold" pitchFamily="34" charset="0"/>
                <a:ea typeface="Source Sans 3 Bold" pitchFamily="34" charset="-122"/>
                <a:cs typeface="Source Sans 3 Bold" pitchFamily="34" charset="-120"/>
              </a:rPr>
              <a:t>Logic:</a:t>
            </a:r>
            <a:r>
              <a:rPr lang="en-US" sz="1400" dirty="0">
                <a:solidFill>
                  <a:srgbClr val="D6E5EF"/>
                </a:solidFill>
                <a:latin typeface="Source Sans 3" pitchFamily="34" charset="0"/>
                <a:ea typeface="Source Sans 3" pitchFamily="34" charset="-122"/>
                <a:cs typeface="Source Sans 3" pitchFamily="34" charset="-120"/>
              </a:rPr>
              <a:t> Output is </a:t>
            </a:r>
            <a:r>
              <a:rPr lang="en-US" sz="1400" b="1" dirty="0">
                <a:solidFill>
                  <a:srgbClr val="D6E5EF"/>
                </a:solidFill>
                <a:latin typeface="Source Sans 3 Bold" pitchFamily="34" charset="0"/>
                <a:ea typeface="Source Sans 3 Bold" pitchFamily="34" charset="-122"/>
                <a:cs typeface="Source Sans 3 Bold" pitchFamily="34" charset="-120"/>
              </a:rPr>
              <a:t>1</a:t>
            </a:r>
            <a:r>
              <a:rPr lang="en-US" sz="1400" dirty="0">
                <a:solidFill>
                  <a:srgbClr val="D6E5EF"/>
                </a:solidFill>
                <a:latin typeface="Source Sans 3" pitchFamily="34" charset="0"/>
                <a:ea typeface="Source Sans 3" pitchFamily="34" charset="-122"/>
                <a:cs typeface="Source Sans 3" pitchFamily="34" charset="-120"/>
              </a:rPr>
              <a:t> when inputs are </a:t>
            </a:r>
            <a:r>
              <a:rPr lang="en-US" sz="1400" b="1" dirty="0">
                <a:solidFill>
                  <a:srgbClr val="D6E5EF"/>
                </a:solidFill>
                <a:latin typeface="Source Sans 3 Bold" pitchFamily="34" charset="0"/>
                <a:ea typeface="Source Sans 3 Bold" pitchFamily="34" charset="-122"/>
                <a:cs typeface="Source Sans 3 Bold" pitchFamily="34" charset="-120"/>
              </a:rPr>
              <a:t>different</a:t>
            </a:r>
            <a:r>
              <a:rPr lang="en-US" sz="1400" dirty="0">
                <a:solidFill>
                  <a:srgbClr val="D6E5EF"/>
                </a:solidFill>
                <a:latin typeface="Source Sans 3" pitchFamily="34" charset="0"/>
                <a:ea typeface="Source Sans 3" pitchFamily="34" charset="-122"/>
                <a:cs typeface="Source Sans 3" pitchFamily="34" charset="-120"/>
              </a:rPr>
              <a:t>; output is </a:t>
            </a:r>
            <a:r>
              <a:rPr lang="en-US" sz="1400" b="1" dirty="0">
                <a:solidFill>
                  <a:srgbClr val="D6E5EF"/>
                </a:solidFill>
                <a:latin typeface="Source Sans 3 Bold" pitchFamily="34" charset="0"/>
                <a:ea typeface="Source Sans 3 Bold" pitchFamily="34" charset="-122"/>
                <a:cs typeface="Source Sans 3 Bold" pitchFamily="34" charset="-120"/>
              </a:rPr>
              <a:t>0</a:t>
            </a:r>
            <a:r>
              <a:rPr lang="en-US" sz="1400" dirty="0">
                <a:solidFill>
                  <a:srgbClr val="D6E5EF"/>
                </a:solidFill>
                <a:latin typeface="Source Sans 3" pitchFamily="34" charset="0"/>
                <a:ea typeface="Source Sans 3" pitchFamily="34" charset="-122"/>
                <a:cs typeface="Source Sans 3" pitchFamily="34" charset="-120"/>
              </a:rPr>
              <a:t> when inputs are the same.</a:t>
            </a:r>
            <a:endParaRPr lang="en-US" sz="1400" dirty="0"/>
          </a:p>
          <a:p>
            <a:pPr marL="0" indent="0" algn="l">
              <a:lnSpc>
                <a:spcPct val="127000"/>
              </a:lnSpc>
              <a:buNone/>
            </a:pPr>
            <a:r>
              <a:rPr lang="en-US" sz="1400" b="1" dirty="0">
                <a:solidFill>
                  <a:srgbClr val="D6E5EF"/>
                </a:solidFill>
                <a:latin typeface="Source Sans 3 Bold" pitchFamily="34" charset="0"/>
                <a:ea typeface="Source Sans 3 Bold" pitchFamily="34" charset="-122"/>
                <a:cs typeface="Source Sans 3 Bold" pitchFamily="34" charset="-120"/>
              </a:rPr>
              <a:t>Key Property:</a:t>
            </a:r>
            <a:r>
              <a:rPr lang="en-US" sz="1400" dirty="0">
                <a:solidFill>
                  <a:srgbClr val="D6E5EF"/>
                </a:solidFill>
                <a:latin typeface="Source Sans 3" pitchFamily="34" charset="0"/>
                <a:ea typeface="Source Sans 3" pitchFamily="34" charset="-122"/>
                <a:cs typeface="Source Sans 3" pitchFamily="34" charset="-120"/>
              </a:rPr>
              <a:t> Perfectly suited for parity generation — naturally counts the number of 1s.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636079" y="3444776"/>
          <a:ext cx="9143771" cy="914400"/>
        </p:xfrm>
        <a:graphic>
          <a:graphicData uri="http://schemas.openxmlformats.org/drawingml/2006/table">
            <a:tbl>
              <a:tblPr/>
              <a:tblGrid>
                <a:gridCol w="2287927">
                  <a:extLst>
                    <a:ext uri="{9D8B030D-6E8A-4147-A177-3AD203B41FA5}">
                      <a16:colId xmlns:a16="http://schemas.microsoft.com/office/drawing/2014/main" val="20000"/>
                    </a:ext>
                  </a:extLst>
                </a:gridCol>
                <a:gridCol w="2287927">
                  <a:extLst>
                    <a:ext uri="{9D8B030D-6E8A-4147-A177-3AD203B41FA5}">
                      <a16:colId xmlns:a16="http://schemas.microsoft.com/office/drawing/2014/main" val="20001"/>
                    </a:ext>
                  </a:extLst>
                </a:gridCol>
                <a:gridCol w="2287927">
                  <a:extLst>
                    <a:ext uri="{9D8B030D-6E8A-4147-A177-3AD203B41FA5}">
                      <a16:colId xmlns:a16="http://schemas.microsoft.com/office/drawing/2014/main" val="20002"/>
                    </a:ext>
                  </a:extLst>
                </a:gridCol>
              </a:tblGrid>
              <a:tr h="482489">
                <a:tc>
                  <a:txBody>
                    <a:bodyPr/>
                    <a:lstStyle/>
                    <a:p>
                      <a:pPr marL="0" indent="0">
                        <a:buNone/>
                      </a:pPr>
                      <a:r>
                        <a:rPr lang="en-US" sz="1400" b="1" dirty="0">
                          <a:solidFill>
                            <a:srgbClr val="000000"/>
                          </a:solidFill>
                          <a:latin typeface="Source Sans 3" pitchFamily="34" charset="0"/>
                          <a:ea typeface="Source Sans 3" pitchFamily="34" charset="-122"/>
                          <a:cs typeface="Source Sans 3" pitchFamily="34" charset="-120"/>
                        </a:rPr>
                        <a:t>A</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6366F1"/>
                    </a:solidFill>
                  </a:tcPr>
                </a:tc>
                <a:tc>
                  <a:txBody>
                    <a:bodyPr/>
                    <a:lstStyle/>
                    <a:p>
                      <a:pPr marL="0" indent="0">
                        <a:buNone/>
                      </a:pPr>
                      <a:r>
                        <a:rPr lang="en-US" sz="1400" b="1" dirty="0">
                          <a:solidFill>
                            <a:srgbClr val="000000"/>
                          </a:solidFill>
                          <a:latin typeface="Source Sans 3" pitchFamily="34" charset="0"/>
                          <a:ea typeface="Source Sans 3" pitchFamily="34" charset="-122"/>
                          <a:cs typeface="Source Sans 3" pitchFamily="34" charset="-120"/>
                        </a:rPr>
                        <a:t>B</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6366F1"/>
                    </a:solidFill>
                  </a:tcPr>
                </a:tc>
                <a:tc>
                  <a:txBody>
                    <a:bodyPr/>
                    <a:lstStyle/>
                    <a:p>
                      <a:pPr marL="0" indent="0">
                        <a:buNone/>
                      </a:pPr>
                      <a:r>
                        <a:rPr lang="en-US" sz="1400" b="1" dirty="0">
                          <a:solidFill>
                            <a:srgbClr val="000000"/>
                          </a:solidFill>
                          <a:latin typeface="Source Sans 3" pitchFamily="34" charset="0"/>
                          <a:ea typeface="Source Sans 3" pitchFamily="34" charset="-122"/>
                          <a:cs typeface="Source Sans 3" pitchFamily="34" charset="-120"/>
                        </a:rPr>
                        <a:t>Y = A ⊕ B</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6366F1"/>
                    </a:solidFill>
                  </a:tcPr>
                </a:tc>
                <a:extLst>
                  <a:ext uri="{0D108BD9-81ED-4DB2-BD59-A6C34878D82A}">
                    <a16:rowId xmlns:a16="http://schemas.microsoft.com/office/drawing/2014/main" val="10000"/>
                  </a:ext>
                </a:extLst>
              </a:tr>
              <a:tr h="485664">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0</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0</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0</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1"/>
                  </a:ext>
                </a:extLst>
              </a:tr>
              <a:tr h="485664">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0</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1</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1</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2"/>
                  </a:ext>
                </a:extLst>
              </a:tr>
              <a:tr h="485664">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1</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0</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1</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3"/>
                  </a:ext>
                </a:extLst>
              </a:tr>
              <a:tr h="482489">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1</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1</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400" dirty="0">
                          <a:solidFill>
                            <a:srgbClr val="D6E5EF"/>
                          </a:solidFill>
                          <a:latin typeface="Source Sans 3" pitchFamily="34" charset="0"/>
                          <a:ea typeface="Source Sans 3" pitchFamily="34" charset="-122"/>
                          <a:cs typeface="Source Sans 3" pitchFamily="34" charset="-120"/>
                        </a:rPr>
                        <a:t>0</a:t>
                      </a:r>
                      <a:endParaRPr lang="en-US" sz="1400" dirty="0">
                        <a:latin typeface="Source Sans 3" charset="0"/>
                        <a:ea typeface="Source Sans 3" charset="0"/>
                        <a:cs typeface="Source Sans 3" charset="0"/>
                      </a:endParaRPr>
                    </a:p>
                  </a:txBody>
                  <a:tcPr marL="179531" marR="179531" marT="6350" marB="6350" anchor="ctr">
                    <a:lnL w="12700" cap="flat" cmpd="sng" algn="ctr">
                      <a:solidFill>
                        <a:srgbClr val="595C64"/>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4"/>
                  </a:ext>
                </a:extLst>
              </a:tr>
            </a:tbl>
          </a:graphicData>
        </a:graphic>
      </p:graphicFrame>
      <p:pic>
        <p:nvPicPr>
          <p:cNvPr id="6" name="Picture 5" descr="Screenshot 2026-09-13 103708.png"/>
          <p:cNvPicPr>
            <a:picLocks noChangeAspect="1"/>
          </p:cNvPicPr>
          <p:nvPr/>
        </p:nvPicPr>
        <p:blipFill>
          <a:blip r:embed="rId3"/>
          <a:stretch>
            <a:fillRect/>
          </a:stretch>
        </p:blipFill>
        <p:spPr>
          <a:xfrm>
            <a:off x="685800" y="1828800"/>
            <a:ext cx="3749039" cy="12519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1273572"/>
            <a:ext cx="10795524" cy="586680"/>
          </a:xfrm>
          <a:prstGeom prst="rect">
            <a:avLst/>
          </a:prstGeom>
          <a:noFill/>
          <a:ln/>
        </p:spPr>
        <p:txBody>
          <a:bodyPr wrap="none" lIns="0" tIns="0" rIns="0" bIns="0" rtlCol="0" anchor="t"/>
          <a:lstStyle/>
          <a:p>
            <a:pPr marL="0" indent="0" algn="l">
              <a:lnSpc>
                <a:spcPct val="104000"/>
              </a:lnSpc>
              <a:buNone/>
            </a:pPr>
            <a:r>
              <a:rPr lang="en-US" sz="3650" dirty="0">
                <a:solidFill>
                  <a:srgbClr val="F98AC7"/>
                </a:solidFill>
                <a:latin typeface="Lora" pitchFamily="34" charset="0"/>
                <a:ea typeface="Lora" pitchFamily="34" charset="-122"/>
                <a:cs typeface="Lora" pitchFamily="34" charset="-120"/>
              </a:rPr>
              <a:t>What is Parity?</a:t>
            </a:r>
            <a:endParaRPr lang="en-US" sz="3650" dirty="0"/>
          </a:p>
        </p:txBody>
      </p:sp>
      <p:sp>
        <p:nvSpPr>
          <p:cNvPr id="3" name="Text 1"/>
          <p:cNvSpPr/>
          <p:nvPr/>
        </p:nvSpPr>
        <p:spPr>
          <a:xfrm>
            <a:off x="698086" y="2358827"/>
            <a:ext cx="5154484" cy="293291"/>
          </a:xfrm>
          <a:prstGeom prst="rect">
            <a:avLst/>
          </a:prstGeom>
          <a:noFill/>
          <a:ln/>
        </p:spPr>
        <p:txBody>
          <a:bodyPr wrap="none" lIns="0" tIns="0" rIns="0" bIns="0" rtlCol="0" anchor="t"/>
          <a:lstStyle/>
          <a:p>
            <a:pPr marL="0" indent="0" algn="l">
              <a:lnSpc>
                <a:spcPct val="104000"/>
              </a:lnSpc>
              <a:buNone/>
            </a:pPr>
            <a:r>
              <a:rPr lang="en-US" sz="1800" dirty="0">
                <a:solidFill>
                  <a:srgbClr val="F98AC7"/>
                </a:solidFill>
                <a:latin typeface="Lora" pitchFamily="34" charset="0"/>
                <a:ea typeface="Lora" pitchFamily="34" charset="-122"/>
                <a:cs typeface="Lora" pitchFamily="34" charset="-120"/>
              </a:rPr>
              <a:t>Parity Defined</a:t>
            </a:r>
            <a:endParaRPr lang="en-US" sz="1800" dirty="0"/>
          </a:p>
        </p:txBody>
      </p:sp>
      <p:sp>
        <p:nvSpPr>
          <p:cNvPr id="4" name="Text 2"/>
          <p:cNvSpPr/>
          <p:nvPr/>
        </p:nvSpPr>
        <p:spPr>
          <a:xfrm>
            <a:off x="698086" y="2851547"/>
            <a:ext cx="5154484" cy="1775420"/>
          </a:xfrm>
          <a:prstGeom prst="rect">
            <a:avLst/>
          </a:prstGeom>
          <a:noFill/>
          <a:ln/>
        </p:spPr>
        <p:txBody>
          <a:bodyPr wrap="square" lIns="0" tIns="0" rIns="0" bIns="0" rtlCol="0" anchor="t">
            <a:normAutofit/>
          </a:bodyPr>
          <a:lstStyle/>
          <a:p>
            <a:pPr marL="0" indent="0" algn="l">
              <a:lnSpc>
                <a:spcPct val="133000"/>
              </a:lnSpc>
              <a:spcAft>
                <a:spcPts val="1400"/>
              </a:spcAft>
              <a:buNone/>
            </a:pPr>
            <a:r>
              <a:rPr lang="en-US" sz="1550" dirty="0">
                <a:solidFill>
                  <a:srgbClr val="D6E5EF"/>
                </a:solidFill>
                <a:latin typeface="Source Sans 3" pitchFamily="34" charset="0"/>
                <a:ea typeface="Source Sans 3" pitchFamily="34" charset="-122"/>
                <a:cs typeface="Source Sans 3" pitchFamily="34" charset="-120"/>
              </a:rPr>
              <a:t>Parity is a simple and widely-used </a:t>
            </a:r>
            <a:r>
              <a:rPr lang="en-US" sz="1550" b="1" dirty="0">
                <a:solidFill>
                  <a:srgbClr val="D6E5EF"/>
                </a:solidFill>
                <a:latin typeface="Source Sans 3 Bold" pitchFamily="34" charset="0"/>
                <a:ea typeface="Source Sans 3 Bold" pitchFamily="34" charset="-122"/>
                <a:cs typeface="Source Sans 3 Bold" pitchFamily="34" charset="-120"/>
              </a:rPr>
              <a:t>error-detection technique</a:t>
            </a:r>
            <a:r>
              <a:rPr lang="en-US" sz="1550" dirty="0">
                <a:solidFill>
                  <a:srgbClr val="D6E5EF"/>
                </a:solidFill>
                <a:latin typeface="Source Sans 3" pitchFamily="34" charset="0"/>
                <a:ea typeface="Source Sans 3" pitchFamily="34" charset="-122"/>
                <a:cs typeface="Source Sans 3" pitchFamily="34" charset="-120"/>
              </a:rPr>
              <a:t> in digital communication. A </a:t>
            </a:r>
            <a:r>
              <a:rPr lang="en-US" sz="1550" b="1" dirty="0">
                <a:solidFill>
                  <a:srgbClr val="D6E5EF"/>
                </a:solidFill>
                <a:latin typeface="Source Sans 3 Bold" pitchFamily="34" charset="0"/>
                <a:ea typeface="Source Sans 3 Bold" pitchFamily="34" charset="-122"/>
                <a:cs typeface="Source Sans 3 Bold" pitchFamily="34" charset="-120"/>
              </a:rPr>
              <a:t>parity bit</a:t>
            </a:r>
            <a:r>
              <a:rPr lang="en-US" sz="1550" dirty="0">
                <a:solidFill>
                  <a:srgbClr val="D6E5EF"/>
                </a:solidFill>
                <a:latin typeface="Source Sans 3" pitchFamily="34" charset="0"/>
                <a:ea typeface="Source Sans 3" pitchFamily="34" charset="-122"/>
                <a:cs typeface="Source Sans 3" pitchFamily="34" charset="-120"/>
              </a:rPr>
              <a:t> is an extra bit appended to binary data to ensure the total count of 1s is either even or odd.</a:t>
            </a:r>
            <a:endParaRPr lang="en-US" sz="1550" dirty="0"/>
          </a:p>
          <a:p>
            <a:pPr marL="0" indent="0" algn="l">
              <a:lnSpc>
                <a:spcPct val="133000"/>
              </a:lnSpc>
              <a:buNone/>
            </a:pPr>
            <a:r>
              <a:rPr lang="en-US" sz="1550" b="1" dirty="0">
                <a:solidFill>
                  <a:srgbClr val="D6E5EF"/>
                </a:solidFill>
                <a:latin typeface="Source Sans 3 Bold" pitchFamily="34" charset="0"/>
                <a:ea typeface="Source Sans 3 Bold" pitchFamily="34" charset="-122"/>
                <a:cs typeface="Source Sans 3 Bold" pitchFamily="34" charset="-120"/>
              </a:rPr>
              <a:t>Example:</a:t>
            </a:r>
            <a:r>
              <a:rPr lang="en-US" sz="1550" dirty="0">
                <a:solidFill>
                  <a:srgbClr val="D6E5EF"/>
                </a:solidFill>
                <a:latin typeface="Source Sans 3" pitchFamily="34" charset="0"/>
                <a:ea typeface="Source Sans 3" pitchFamily="34" charset="-122"/>
                <a:cs typeface="Source Sans 3" pitchFamily="34" charset="-120"/>
              </a:rPr>
              <a:t> Data = </a:t>
            </a:r>
            <a:r>
              <a:rPr lang="en-US" sz="1550" dirty="0">
                <a:solidFill>
                  <a:srgbClr val="6366F1"/>
                </a:solidFill>
                <a:latin typeface="Source Sans 3" pitchFamily="34" charset="0"/>
                <a:ea typeface="Source Sans 3" pitchFamily="34" charset="-122"/>
                <a:cs typeface="Source Sans 3" pitchFamily="34" charset="-120"/>
              </a:rPr>
              <a:t>101</a:t>
            </a:r>
            <a:r>
              <a:rPr lang="en-US" sz="1550" dirty="0">
                <a:solidFill>
                  <a:srgbClr val="D6E5EF"/>
                </a:solidFill>
                <a:latin typeface="Source Sans 3" pitchFamily="34" charset="0"/>
                <a:ea typeface="Source Sans 3" pitchFamily="34" charset="-122"/>
                <a:cs typeface="Source Sans 3" pitchFamily="34" charset="-120"/>
              </a:rPr>
              <a:t> (two 1s)</a:t>
            </a:r>
            <a:endParaRPr lang="en-US" sz="1550" dirty="0"/>
          </a:p>
        </p:txBody>
      </p:sp>
      <p:sp>
        <p:nvSpPr>
          <p:cNvPr id="5" name="Text 3"/>
          <p:cNvSpPr/>
          <p:nvPr/>
        </p:nvSpPr>
        <p:spPr>
          <a:xfrm>
            <a:off x="698086" y="4806454"/>
            <a:ext cx="5154484" cy="708124"/>
          </a:xfrm>
          <a:prstGeom prst="rect">
            <a:avLst/>
          </a:prstGeom>
          <a:noFill/>
          <a:ln/>
        </p:spPr>
        <p:txBody>
          <a:bodyPr wrap="square" lIns="0" tIns="0" rIns="0" bIns="0" rtlCol="0" anchor="t">
            <a:normAutofit/>
          </a:bodyPr>
          <a:lstStyle/>
          <a:p>
            <a:pPr marL="314960" indent="-314960" algn="l">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Even parity bit = </a:t>
            </a:r>
            <a:r>
              <a:rPr lang="en-US" sz="1550" b="1" dirty="0">
                <a:solidFill>
                  <a:srgbClr val="D6E5EF"/>
                </a:solidFill>
                <a:latin typeface="Source Sans 3 Bold" pitchFamily="34" charset="0"/>
                <a:ea typeface="Source Sans 3 Bold" pitchFamily="34" charset="-122"/>
                <a:cs typeface="Source Sans 3 Bold" pitchFamily="34" charset="-120"/>
              </a:rPr>
              <a:t>0</a:t>
            </a:r>
            <a:r>
              <a:rPr lang="en-US" sz="1550" dirty="0">
                <a:solidFill>
                  <a:srgbClr val="D6E5EF"/>
                </a:solidFill>
                <a:latin typeface="Source Sans 3" pitchFamily="34" charset="0"/>
                <a:ea typeface="Source Sans 3" pitchFamily="34" charset="-122"/>
                <a:cs typeface="Source Sans 3" pitchFamily="34" charset="-120"/>
              </a:rPr>
              <a:t> → total: 2 ones (even ✓)</a:t>
            </a:r>
            <a:endParaRPr lang="en-US" sz="1550" dirty="0"/>
          </a:p>
          <a:p>
            <a:pPr marL="314960" indent="-314960" algn="l">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Odd parity bit = </a:t>
            </a:r>
            <a:r>
              <a:rPr lang="en-US" sz="1550" b="1" dirty="0">
                <a:solidFill>
                  <a:srgbClr val="D6E5EF"/>
                </a:solidFill>
                <a:latin typeface="Source Sans 3 Bold" pitchFamily="34" charset="0"/>
                <a:ea typeface="Source Sans 3 Bold" pitchFamily="34" charset="-122"/>
                <a:cs typeface="Source Sans 3 Bold" pitchFamily="34" charset="-120"/>
              </a:rPr>
              <a:t>1</a:t>
            </a:r>
            <a:r>
              <a:rPr lang="en-US" sz="1550" dirty="0">
                <a:solidFill>
                  <a:srgbClr val="D6E5EF"/>
                </a:solidFill>
                <a:latin typeface="Source Sans 3" pitchFamily="34" charset="0"/>
                <a:ea typeface="Source Sans 3" pitchFamily="34" charset="-122"/>
                <a:cs typeface="Source Sans 3" pitchFamily="34" charset="-120"/>
              </a:rPr>
              <a:t> → total: 3 ones (odd ✓)</a:t>
            </a:r>
            <a:endParaRPr lang="en-US" sz="1550" dirty="0"/>
          </a:p>
        </p:txBody>
      </p:sp>
      <p:sp>
        <p:nvSpPr>
          <p:cNvPr id="6" name="Shape 4"/>
          <p:cNvSpPr/>
          <p:nvPr/>
        </p:nvSpPr>
        <p:spPr>
          <a:xfrm>
            <a:off x="6345476" y="2383730"/>
            <a:ext cx="2477529" cy="1849140"/>
          </a:xfrm>
          <a:prstGeom prst="roundRect">
            <a:avLst>
              <a:gd name="adj" fmla="val 1618"/>
            </a:avLst>
          </a:prstGeom>
          <a:solidFill>
            <a:srgbClr val="444752"/>
          </a:solidFill>
          <a:ln/>
        </p:spPr>
        <p:txBody>
          <a:bodyPr/>
          <a:p/>
        </p:txBody>
      </p:sp>
      <p:sp>
        <p:nvSpPr>
          <p:cNvPr id="7" name="Text 5"/>
          <p:cNvSpPr/>
          <p:nvPr/>
        </p:nvSpPr>
        <p:spPr>
          <a:xfrm>
            <a:off x="6544900" y="2583160"/>
            <a:ext cx="2078680" cy="293291"/>
          </a:xfrm>
          <a:prstGeom prst="rect">
            <a:avLst/>
          </a:prstGeom>
          <a:noFill/>
          <a:ln/>
        </p:spPr>
        <p:txBody>
          <a:bodyPr wrap="none" lIns="0" tIns="0" rIns="0" bIns="0" rtlCol="0" anchor="t"/>
          <a:lstStyle/>
          <a:p>
            <a:pPr marL="0" indent="0" algn="l">
              <a:lnSpc>
                <a:spcPct val="104000"/>
              </a:lnSpc>
              <a:buNone/>
            </a:pPr>
            <a:r>
              <a:rPr lang="en-US" sz="1800" dirty="0">
                <a:solidFill>
                  <a:srgbClr val="D6E5EF"/>
                </a:solidFill>
                <a:latin typeface="Lora" pitchFamily="34" charset="0"/>
                <a:ea typeface="Lora" pitchFamily="34" charset="-122"/>
                <a:cs typeface="Lora" pitchFamily="34" charset="-120"/>
              </a:rPr>
              <a:t>Even Parity</a:t>
            </a:r>
            <a:endParaRPr lang="en-US" sz="1800" dirty="0"/>
          </a:p>
        </p:txBody>
      </p:sp>
      <p:sp>
        <p:nvSpPr>
          <p:cNvPr id="8" name="Text 6"/>
          <p:cNvSpPr/>
          <p:nvPr/>
        </p:nvSpPr>
        <p:spPr>
          <a:xfrm>
            <a:off x="6544900" y="3075880"/>
            <a:ext cx="2078680"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D6E5EF"/>
                </a:solidFill>
                <a:latin typeface="Source Sans 3" pitchFamily="34" charset="0"/>
                <a:ea typeface="Source Sans 3" pitchFamily="34" charset="-122"/>
                <a:cs typeface="Source Sans 3" pitchFamily="34" charset="-120"/>
              </a:rPr>
              <a:t>Total number of 1s </a:t>
            </a:r>
            <a:r>
              <a:rPr lang="en-US" sz="1550" b="1" dirty="0">
                <a:solidFill>
                  <a:srgbClr val="D6E5EF"/>
                </a:solidFill>
                <a:latin typeface="Source Sans 3 Bold" pitchFamily="34" charset="0"/>
                <a:ea typeface="Source Sans 3 Bold" pitchFamily="34" charset="-122"/>
                <a:cs typeface="Source Sans 3 Bold" pitchFamily="34" charset="-120"/>
              </a:rPr>
              <a:t>(including parity bit)</a:t>
            </a:r>
            <a:r>
              <a:rPr lang="en-US" sz="1550" dirty="0">
                <a:solidFill>
                  <a:srgbClr val="D6E5EF"/>
                </a:solidFill>
                <a:latin typeface="Source Sans 3" pitchFamily="34" charset="0"/>
                <a:ea typeface="Source Sans 3" pitchFamily="34" charset="-122"/>
                <a:cs typeface="Source Sans 3" pitchFamily="34" charset="-120"/>
              </a:rPr>
              <a:t> must be </a:t>
            </a:r>
            <a:r>
              <a:rPr lang="en-US" sz="1550" b="1" dirty="0">
                <a:solidFill>
                  <a:srgbClr val="D6E5EF"/>
                </a:solidFill>
                <a:latin typeface="Source Sans 3 Bold" pitchFamily="34" charset="0"/>
                <a:ea typeface="Source Sans 3 Bold" pitchFamily="34" charset="-122"/>
                <a:cs typeface="Source Sans 3 Bold" pitchFamily="34" charset="-120"/>
              </a:rPr>
              <a:t>even</a:t>
            </a:r>
            <a:r>
              <a:rPr lang="en-US" sz="1550" dirty="0">
                <a:solidFill>
                  <a:srgbClr val="D6E5EF"/>
                </a:solidFill>
                <a:latin typeface="Source Sans 3" pitchFamily="34" charset="0"/>
                <a:ea typeface="Source Sans 3" pitchFamily="34" charset="-122"/>
                <a:cs typeface="Source Sans 3" pitchFamily="34" charset="-120"/>
              </a:rPr>
              <a:t>.</a:t>
            </a:r>
            <a:endParaRPr lang="en-US" sz="1550" dirty="0"/>
          </a:p>
        </p:txBody>
      </p:sp>
      <p:sp>
        <p:nvSpPr>
          <p:cNvPr id="9" name="Shape 7"/>
          <p:cNvSpPr/>
          <p:nvPr/>
        </p:nvSpPr>
        <p:spPr>
          <a:xfrm>
            <a:off x="9022430" y="2383730"/>
            <a:ext cx="2477529" cy="1849140"/>
          </a:xfrm>
          <a:prstGeom prst="roundRect">
            <a:avLst>
              <a:gd name="adj" fmla="val 1618"/>
            </a:avLst>
          </a:prstGeom>
          <a:solidFill>
            <a:srgbClr val="444752"/>
          </a:solidFill>
          <a:ln/>
        </p:spPr>
        <p:txBody>
          <a:bodyPr/>
          <a:p/>
        </p:txBody>
      </p:sp>
      <p:sp>
        <p:nvSpPr>
          <p:cNvPr id="10" name="Text 8"/>
          <p:cNvSpPr/>
          <p:nvPr/>
        </p:nvSpPr>
        <p:spPr>
          <a:xfrm>
            <a:off x="9221854" y="2583160"/>
            <a:ext cx="2078680" cy="293291"/>
          </a:xfrm>
          <a:prstGeom prst="rect">
            <a:avLst/>
          </a:prstGeom>
          <a:noFill/>
          <a:ln/>
        </p:spPr>
        <p:txBody>
          <a:bodyPr wrap="none" lIns="0" tIns="0" rIns="0" bIns="0" rtlCol="0" anchor="t"/>
          <a:lstStyle/>
          <a:p>
            <a:pPr marL="0" indent="0" algn="l">
              <a:lnSpc>
                <a:spcPct val="104000"/>
              </a:lnSpc>
              <a:buNone/>
            </a:pPr>
            <a:r>
              <a:rPr lang="en-US" sz="1800" dirty="0">
                <a:solidFill>
                  <a:srgbClr val="D6E5EF"/>
                </a:solidFill>
                <a:latin typeface="Lora" pitchFamily="34" charset="0"/>
                <a:ea typeface="Lora" pitchFamily="34" charset="-122"/>
                <a:cs typeface="Lora" pitchFamily="34" charset="-120"/>
              </a:rPr>
              <a:t>Odd Parity</a:t>
            </a:r>
            <a:endParaRPr lang="en-US" sz="1800" dirty="0"/>
          </a:p>
        </p:txBody>
      </p:sp>
      <p:sp>
        <p:nvSpPr>
          <p:cNvPr id="11" name="Text 9"/>
          <p:cNvSpPr/>
          <p:nvPr/>
        </p:nvSpPr>
        <p:spPr>
          <a:xfrm>
            <a:off x="9221854" y="3075880"/>
            <a:ext cx="2078680"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D6E5EF"/>
                </a:solidFill>
                <a:latin typeface="Source Sans 3" pitchFamily="34" charset="0"/>
                <a:ea typeface="Source Sans 3" pitchFamily="34" charset="-122"/>
                <a:cs typeface="Source Sans 3" pitchFamily="34" charset="-120"/>
              </a:rPr>
              <a:t>Total number of 1s </a:t>
            </a:r>
            <a:r>
              <a:rPr lang="en-US" sz="1550" b="1" dirty="0">
                <a:solidFill>
                  <a:srgbClr val="D6E5EF"/>
                </a:solidFill>
                <a:latin typeface="Source Sans 3 Bold" pitchFamily="34" charset="0"/>
                <a:ea typeface="Source Sans 3 Bold" pitchFamily="34" charset="-122"/>
                <a:cs typeface="Source Sans 3 Bold" pitchFamily="34" charset="-120"/>
              </a:rPr>
              <a:t>(including parity bit)</a:t>
            </a:r>
            <a:r>
              <a:rPr lang="en-US" sz="1550" dirty="0">
                <a:solidFill>
                  <a:srgbClr val="D6E5EF"/>
                </a:solidFill>
                <a:latin typeface="Source Sans 3" pitchFamily="34" charset="0"/>
                <a:ea typeface="Source Sans 3" pitchFamily="34" charset="-122"/>
                <a:cs typeface="Source Sans 3" pitchFamily="34" charset="-120"/>
              </a:rPr>
              <a:t> must be </a:t>
            </a:r>
            <a:r>
              <a:rPr lang="en-US" sz="1550" b="1" dirty="0">
                <a:solidFill>
                  <a:srgbClr val="D6E5EF"/>
                </a:solidFill>
                <a:latin typeface="Source Sans 3 Bold" pitchFamily="34" charset="0"/>
                <a:ea typeface="Source Sans 3 Bold" pitchFamily="34" charset="-122"/>
                <a:cs typeface="Source Sans 3 Bold" pitchFamily="34" charset="-120"/>
              </a:rPr>
              <a:t>odd</a:t>
            </a:r>
            <a:r>
              <a:rPr lang="en-US" sz="1550" dirty="0">
                <a:solidFill>
                  <a:srgbClr val="D6E5EF"/>
                </a:solidFill>
                <a:latin typeface="Source Sans 3" pitchFamily="34" charset="0"/>
                <a:ea typeface="Source Sans 3" pitchFamily="34" charset="-122"/>
                <a:cs typeface="Source Sans 3" pitchFamily="34" charset="-120"/>
              </a:rPr>
              <a:t>.</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86" y="716955"/>
            <a:ext cx="10795524" cy="498673"/>
          </a:xfrm>
          <a:prstGeom prst="rect">
            <a:avLst/>
          </a:prstGeom>
          <a:noFill/>
          <a:ln/>
        </p:spPr>
        <p:txBody>
          <a:bodyPr wrap="none" lIns="0" tIns="0" rIns="0" bIns="0" rtlCol="0" anchor="t"/>
          <a:lstStyle/>
          <a:p>
            <a:pPr marL="0" indent="0" algn="l">
              <a:lnSpc>
                <a:spcPct val="104000"/>
              </a:lnSpc>
              <a:buNone/>
            </a:pPr>
            <a:r>
              <a:rPr lang="en-US" sz="3100" dirty="0">
                <a:solidFill>
                  <a:srgbClr val="F98AC7"/>
                </a:solidFill>
                <a:latin typeface="Lora" pitchFamily="34" charset="0"/>
                <a:ea typeface="Lora" pitchFamily="34" charset="-122"/>
                <a:cs typeface="Lora" pitchFamily="34" charset="-120"/>
              </a:rPr>
              <a:t>Even Parity Generator (3-bit)</a:t>
            </a:r>
            <a:endParaRPr lang="en-US" sz="3100" dirty="0"/>
          </a:p>
        </p:txBody>
      </p:sp>
      <p:sp>
        <p:nvSpPr>
          <p:cNvPr id="3" name="Text 1"/>
          <p:cNvSpPr/>
          <p:nvPr/>
        </p:nvSpPr>
        <p:spPr>
          <a:xfrm>
            <a:off x="698086" y="1575792"/>
            <a:ext cx="5190995" cy="249337"/>
          </a:xfrm>
          <a:prstGeom prst="rect">
            <a:avLst/>
          </a:prstGeom>
          <a:noFill/>
          <a:ln/>
        </p:spPr>
        <p:txBody>
          <a:bodyPr wrap="none" lIns="0" tIns="0" rIns="0" bIns="0" rtlCol="0" anchor="t"/>
          <a:lstStyle/>
          <a:p>
            <a:pPr marL="0" indent="0" algn="l">
              <a:lnSpc>
                <a:spcPct val="104000"/>
              </a:lnSpc>
              <a:buNone/>
            </a:pPr>
            <a:r>
              <a:rPr lang="en-US" sz="1550" dirty="0">
                <a:solidFill>
                  <a:srgbClr val="F98AC7"/>
                </a:solidFill>
                <a:latin typeface="Lora" pitchFamily="34" charset="0"/>
                <a:ea typeface="Lora" pitchFamily="34" charset="-122"/>
                <a:cs typeface="Lora" pitchFamily="34" charset="-120"/>
              </a:rPr>
              <a:t>Boolean Expression</a:t>
            </a:r>
            <a:endParaRPr lang="en-US" sz="1550" dirty="0"/>
          </a:p>
        </p:txBody>
      </p:sp>
      <p:sp>
        <p:nvSpPr>
          <p:cNvPr id="4" name="Text 2"/>
          <p:cNvSpPr/>
          <p:nvPr/>
        </p:nvSpPr>
        <p:spPr>
          <a:xfrm>
            <a:off x="698086" y="1969195"/>
            <a:ext cx="5190995" cy="688181"/>
          </a:xfrm>
          <a:prstGeom prst="rect">
            <a:avLst/>
          </a:prstGeom>
          <a:noFill/>
          <a:ln/>
        </p:spPr>
        <p:txBody>
          <a:bodyPr wrap="none" lIns="0" tIns="0" rIns="0" bIns="0" rtlCol="0" anchor="t"/>
          <a:lstStyle/>
          <a:p>
            <a:pPr marL="0" indent="0" algn="l">
              <a:lnSpc>
                <a:spcPct val="104000"/>
              </a:lnSpc>
              <a:buNone/>
            </a:pPr>
            <a:r>
              <a:rPr lang="en-US" sz="4300" dirty="0">
                <a:solidFill>
                  <a:srgbClr val="6366F1"/>
                </a:solidFill>
                <a:latin typeface="Lora" pitchFamily="34" charset="0"/>
                <a:ea typeface="Lora" pitchFamily="34" charset="-122"/>
                <a:cs typeface="Lora" pitchFamily="34" charset="-120"/>
              </a:rPr>
              <a:t>Pₑ = A ⊕ B ⊕ C</a:t>
            </a:r>
            <a:endParaRPr lang="en-US" sz="4300" dirty="0"/>
          </a:p>
        </p:txBody>
      </p:sp>
      <p:sp>
        <p:nvSpPr>
          <p:cNvPr id="5" name="Text 3"/>
          <p:cNvSpPr/>
          <p:nvPr/>
        </p:nvSpPr>
        <p:spPr>
          <a:xfrm>
            <a:off x="698086" y="2801441"/>
            <a:ext cx="5190995" cy="752773"/>
          </a:xfrm>
          <a:prstGeom prst="rect">
            <a:avLst/>
          </a:prstGeom>
          <a:noFill/>
          <a:ln/>
        </p:spPr>
        <p:txBody>
          <a:bodyPr wrap="square" lIns="0" tIns="0" rIns="0" bIns="0" rtlCol="0" anchor="t">
            <a:normAutofit/>
          </a:bodyPr>
          <a:lstStyle/>
          <a:p>
            <a:pPr marL="0" indent="0" algn="l">
              <a:lnSpc>
                <a:spcPct val="123000"/>
              </a:lnSpc>
              <a:buNone/>
            </a:pPr>
            <a:r>
              <a:rPr lang="en-US" sz="1300" dirty="0">
                <a:solidFill>
                  <a:srgbClr val="D6E5EF"/>
                </a:solidFill>
                <a:latin typeface="Source Sans 3" pitchFamily="34" charset="0"/>
                <a:ea typeface="Source Sans 3" pitchFamily="34" charset="-122"/>
                <a:cs typeface="Source Sans 3" pitchFamily="34" charset="-120"/>
              </a:rPr>
              <a:t>The XOR of all input bits generates the even-parity bit. Output is </a:t>
            </a:r>
            <a:r>
              <a:rPr lang="en-US" sz="1300" b="1" dirty="0">
                <a:solidFill>
                  <a:srgbClr val="D6E5EF"/>
                </a:solidFill>
                <a:latin typeface="Source Sans 3 Bold" pitchFamily="34" charset="0"/>
                <a:ea typeface="Source Sans 3 Bold" pitchFamily="34" charset="-122"/>
                <a:cs typeface="Source Sans 3 Bold" pitchFamily="34" charset="-120"/>
              </a:rPr>
              <a:t>1</a:t>
            </a:r>
            <a:r>
              <a:rPr lang="en-US" sz="1300" dirty="0">
                <a:solidFill>
                  <a:srgbClr val="D6E5EF"/>
                </a:solidFill>
                <a:latin typeface="Source Sans 3" pitchFamily="34" charset="0"/>
                <a:ea typeface="Source Sans 3" pitchFamily="34" charset="-122"/>
                <a:cs typeface="Source Sans 3" pitchFamily="34" charset="-120"/>
              </a:rPr>
              <a:t> when an </a:t>
            </a:r>
            <a:r>
              <a:rPr lang="en-US" sz="1300" b="1" dirty="0">
                <a:solidFill>
                  <a:srgbClr val="D6E5EF"/>
                </a:solidFill>
                <a:latin typeface="Source Sans 3 Bold" pitchFamily="34" charset="0"/>
                <a:ea typeface="Source Sans 3 Bold" pitchFamily="34" charset="-122"/>
                <a:cs typeface="Source Sans 3 Bold" pitchFamily="34" charset="-120"/>
              </a:rPr>
              <a:t>odd number</a:t>
            </a:r>
            <a:r>
              <a:rPr lang="en-US" sz="1300" dirty="0">
                <a:solidFill>
                  <a:srgbClr val="D6E5EF"/>
                </a:solidFill>
                <a:latin typeface="Source Sans 3" pitchFamily="34" charset="0"/>
                <a:ea typeface="Source Sans 3" pitchFamily="34" charset="-122"/>
                <a:cs typeface="Source Sans 3" pitchFamily="34" charset="-120"/>
              </a:rPr>
              <a:t> of inputs are 1, ensuring the total count of 1s (data + parity) remains even.</a:t>
            </a:r>
            <a:endParaRPr lang="en-US" sz="1300" dirty="0"/>
          </a:p>
        </p:txBody>
      </p:sp>
      <p:sp>
        <p:nvSpPr>
          <p:cNvPr id="6" name="Shape 4"/>
          <p:cNvSpPr/>
          <p:nvPr/>
        </p:nvSpPr>
        <p:spPr>
          <a:xfrm>
            <a:off x="698086" y="3716338"/>
            <a:ext cx="5190995" cy="845939"/>
          </a:xfrm>
          <a:prstGeom prst="roundRect">
            <a:avLst>
              <a:gd name="adj" fmla="val 3007"/>
            </a:avLst>
          </a:prstGeom>
          <a:solidFill>
            <a:srgbClr val="790645"/>
          </a:solidFill>
          <a:ln/>
        </p:spPr>
        <p:txBody>
          <a:bodyPr/>
          <a:p/>
        </p:txBody>
      </p:sp>
      <p:pic>
        <p:nvPicPr>
          <p:cNvPr id="7" name="Image 0" descr="preencoded.png"/>
          <p:cNvPicPr>
            <a:picLocks noChangeAspect="1"/>
          </p:cNvPicPr>
          <p:nvPr/>
        </p:nvPicPr>
        <p:blipFill>
          <a:blip r:embed="rId3"/>
          <a:stretch>
            <a:fillRect/>
          </a:stretch>
        </p:blipFill>
        <p:spPr>
          <a:xfrm>
            <a:off x="867547" y="3925888"/>
            <a:ext cx="211926" cy="169466"/>
          </a:xfrm>
          <a:prstGeom prst="rect">
            <a:avLst/>
          </a:prstGeom>
        </p:spPr>
      </p:pic>
      <p:sp>
        <p:nvSpPr>
          <p:cNvPr id="8" name="Text 5"/>
          <p:cNvSpPr/>
          <p:nvPr/>
        </p:nvSpPr>
        <p:spPr>
          <a:xfrm>
            <a:off x="1248934" y="3888383"/>
            <a:ext cx="4470685" cy="501848"/>
          </a:xfrm>
          <a:prstGeom prst="rect">
            <a:avLst/>
          </a:prstGeom>
          <a:noFill/>
          <a:ln/>
        </p:spPr>
        <p:txBody>
          <a:bodyPr wrap="square" lIns="0" tIns="0" rIns="0" bIns="0" rtlCol="0" anchor="t">
            <a:normAutofit/>
          </a:bodyPr>
          <a:lstStyle/>
          <a:p>
            <a:pPr marL="0" indent="0" algn="l">
              <a:lnSpc>
                <a:spcPct val="123000"/>
              </a:lnSpc>
              <a:buNone/>
            </a:pPr>
            <a:r>
              <a:rPr lang="en-US" sz="1300" dirty="0">
                <a:solidFill>
                  <a:srgbClr val="FFFFFF"/>
                </a:solidFill>
                <a:latin typeface="Source Sans 3" pitchFamily="34" charset="0"/>
                <a:ea typeface="Source Sans 3" pitchFamily="34" charset="-122"/>
                <a:cs typeface="Source Sans 3" pitchFamily="34" charset="-120"/>
              </a:rPr>
              <a:t>Two cascaded 2-input XOR gates implement this expression: first XOR(A,B), then XOR(result, C).</a:t>
            </a:r>
            <a:endParaRPr lang="en-US" sz="1300" dirty="0"/>
          </a:p>
        </p:txBody>
      </p:sp>
      <p:sp>
        <p:nvSpPr>
          <p:cNvPr id="9" name="Text 6"/>
          <p:cNvSpPr/>
          <p:nvPr/>
        </p:nvSpPr>
        <p:spPr>
          <a:xfrm>
            <a:off x="6308964" y="1575792"/>
            <a:ext cx="5190995" cy="249337"/>
          </a:xfrm>
          <a:prstGeom prst="rect">
            <a:avLst/>
          </a:prstGeom>
          <a:noFill/>
          <a:ln/>
        </p:spPr>
        <p:txBody>
          <a:bodyPr wrap="none" lIns="0" tIns="0" rIns="0" bIns="0" rtlCol="0" anchor="t"/>
          <a:lstStyle/>
          <a:p>
            <a:pPr marL="0" indent="0" algn="l">
              <a:lnSpc>
                <a:spcPct val="104000"/>
              </a:lnSpc>
              <a:buNone/>
            </a:pPr>
            <a:r>
              <a:rPr lang="en-US" sz="1550" dirty="0">
                <a:solidFill>
                  <a:srgbClr val="F98AC7"/>
                </a:solidFill>
                <a:latin typeface="Lora" pitchFamily="34" charset="0"/>
                <a:ea typeface="Lora" pitchFamily="34" charset="-122"/>
                <a:cs typeface="Lora" pitchFamily="34" charset="-120"/>
              </a:rPr>
              <a:t>Truth Table — Even Parity</a:t>
            </a:r>
            <a:endParaRPr lang="en-US" sz="15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08964" y="1987252"/>
          <a:ext cx="9143771" cy="914400"/>
        </p:xfrm>
        <a:graphic>
          <a:graphicData uri="http://schemas.openxmlformats.org/drawingml/2006/table">
            <a:tbl>
              <a:tblPr/>
              <a:tblGrid>
                <a:gridCol w="1297749">
                  <a:extLst>
                    <a:ext uri="{9D8B030D-6E8A-4147-A177-3AD203B41FA5}">
                      <a16:colId xmlns:a16="http://schemas.microsoft.com/office/drawing/2014/main" val="20000"/>
                    </a:ext>
                  </a:extLst>
                </a:gridCol>
                <a:gridCol w="1297749">
                  <a:extLst>
                    <a:ext uri="{9D8B030D-6E8A-4147-A177-3AD203B41FA5}">
                      <a16:colId xmlns:a16="http://schemas.microsoft.com/office/drawing/2014/main" val="20001"/>
                    </a:ext>
                  </a:extLst>
                </a:gridCol>
                <a:gridCol w="1297749">
                  <a:extLst>
                    <a:ext uri="{9D8B030D-6E8A-4147-A177-3AD203B41FA5}">
                      <a16:colId xmlns:a16="http://schemas.microsoft.com/office/drawing/2014/main" val="20002"/>
                    </a:ext>
                  </a:extLst>
                </a:gridCol>
                <a:gridCol w="1297749">
                  <a:extLst>
                    <a:ext uri="{9D8B030D-6E8A-4147-A177-3AD203B41FA5}">
                      <a16:colId xmlns:a16="http://schemas.microsoft.com/office/drawing/2014/main" val="20003"/>
                    </a:ext>
                  </a:extLst>
                </a:gridCol>
              </a:tblGrid>
              <a:tr h="439627">
                <a:tc>
                  <a:txBody>
                    <a:bodyPr/>
                    <a:lstStyle/>
                    <a:p>
                      <a:pPr marL="0" indent="0">
                        <a:buNone/>
                      </a:pPr>
                      <a:r>
                        <a:rPr lang="en-US" sz="1300" b="1" dirty="0">
                          <a:solidFill>
                            <a:srgbClr val="000000"/>
                          </a:solidFill>
                          <a:latin typeface="Source Sans 3" pitchFamily="34" charset="0"/>
                          <a:ea typeface="Source Sans 3" pitchFamily="34" charset="-122"/>
                          <a:cs typeface="Source Sans 3" pitchFamily="34" charset="-120"/>
                        </a:rPr>
                        <a:t>A</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6366F1"/>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6366F1"/>
                    </a:solidFill>
                  </a:tcPr>
                </a:tc>
                <a:tc>
                  <a:txBody>
                    <a:bodyPr/>
                    <a:lstStyle/>
                    <a:p>
                      <a:pPr marL="0" indent="0">
                        <a:buNone/>
                      </a:pPr>
                      <a:r>
                        <a:rPr lang="en-US" sz="1300" b="1" dirty="0">
                          <a:solidFill>
                            <a:srgbClr val="000000"/>
                          </a:solidFill>
                          <a:latin typeface="Source Sans 3" pitchFamily="34" charset="0"/>
                          <a:ea typeface="Source Sans 3" pitchFamily="34" charset="-122"/>
                          <a:cs typeface="Source Sans 3" pitchFamily="34" charset="-120"/>
                        </a:rPr>
                        <a:t>B</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6366F1"/>
                      </a:solidFill>
                      <a:prstDash val="solid"/>
                      <a:round/>
                      <a:headEnd type="none" w="med" len="med"/>
                      <a:tailEnd type="none" w="med" len="med"/>
                    </a:lnL>
                    <a:lnR w="12700" cap="flat" cmpd="sng" algn="ctr">
                      <a:solidFill>
                        <a:srgbClr val="6366F1"/>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6366F1"/>
                    </a:solidFill>
                  </a:tcPr>
                </a:tc>
                <a:tc>
                  <a:txBody>
                    <a:bodyPr/>
                    <a:lstStyle/>
                    <a:p>
                      <a:pPr marL="0" indent="0">
                        <a:buNone/>
                      </a:pPr>
                      <a:r>
                        <a:rPr lang="en-US" sz="1300" b="1" dirty="0">
                          <a:solidFill>
                            <a:srgbClr val="000000"/>
                          </a:solidFill>
                          <a:latin typeface="Source Sans 3" pitchFamily="34" charset="0"/>
                          <a:ea typeface="Source Sans 3" pitchFamily="34" charset="-122"/>
                          <a:cs typeface="Source Sans 3" pitchFamily="34" charset="-120"/>
                        </a:rPr>
                        <a:t>C</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6366F1"/>
                      </a:solidFill>
                      <a:prstDash val="solid"/>
                      <a:round/>
                      <a:headEnd type="none" w="med" len="med"/>
                      <a:tailEnd type="none" w="med" len="med"/>
                    </a:lnL>
                    <a:lnR w="12700" cap="flat" cmpd="sng" algn="ctr">
                      <a:solidFill>
                        <a:srgbClr val="6366F1"/>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6366F1"/>
                    </a:solidFill>
                  </a:tcPr>
                </a:tc>
                <a:tc>
                  <a:txBody>
                    <a:bodyPr/>
                    <a:lstStyle/>
                    <a:p>
                      <a:pPr marL="0" indent="0">
                        <a:buNone/>
                      </a:pPr>
                      <a:r>
                        <a:rPr lang="en-US" sz="1300" b="1" dirty="0">
                          <a:solidFill>
                            <a:srgbClr val="000000"/>
                          </a:solidFill>
                          <a:latin typeface="Source Sans 3" pitchFamily="34" charset="0"/>
                          <a:ea typeface="Source Sans 3" pitchFamily="34" charset="-122"/>
                          <a:cs typeface="Source Sans 3" pitchFamily="34" charset="-120"/>
                        </a:rPr>
                        <a:t>Pₑ</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6366F1"/>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8B5CF6"/>
                    </a:solidFill>
                  </a:tcPr>
                </a:tc>
                <a:extLst>
                  <a:ext uri="{0D108BD9-81ED-4DB2-BD59-A6C34878D82A}">
                    <a16:rowId xmlns:a16="http://schemas.microsoft.com/office/drawing/2014/main" val="10000"/>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1"/>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2"/>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3"/>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4"/>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5"/>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6"/>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7"/>
                  </a:ext>
                </a:extLst>
              </a:tr>
              <a:tr h="439627">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716955"/>
            <a:ext cx="10795524" cy="498673"/>
          </a:xfrm>
          <a:prstGeom prst="rect">
            <a:avLst/>
          </a:prstGeom>
          <a:noFill/>
          <a:ln/>
        </p:spPr>
        <p:txBody>
          <a:bodyPr wrap="none" lIns="0" tIns="0" rIns="0" bIns="0" rtlCol="0" anchor="t"/>
          <a:lstStyle/>
          <a:p>
            <a:pPr marL="0" indent="0" algn="l">
              <a:lnSpc>
                <a:spcPct val="104000"/>
              </a:lnSpc>
              <a:buNone/>
            </a:pPr>
            <a:r>
              <a:rPr lang="en-US" sz="3100" dirty="0">
                <a:solidFill>
                  <a:srgbClr val="F98AC7"/>
                </a:solidFill>
                <a:latin typeface="Lora" pitchFamily="34" charset="0"/>
                <a:ea typeface="Lora" pitchFamily="34" charset="-122"/>
                <a:cs typeface="Lora" pitchFamily="34" charset="-120"/>
              </a:rPr>
              <a:t>Odd Parity Generator (3-bit)</a:t>
            </a:r>
            <a:endParaRPr lang="en-US" sz="3100" dirty="0"/>
          </a:p>
        </p:txBody>
      </p:sp>
      <p:sp>
        <p:nvSpPr>
          <p:cNvPr id="3" name="Text 1"/>
          <p:cNvSpPr/>
          <p:nvPr/>
        </p:nvSpPr>
        <p:spPr>
          <a:xfrm>
            <a:off x="698086" y="1575792"/>
            <a:ext cx="5190995" cy="249337"/>
          </a:xfrm>
          <a:prstGeom prst="rect">
            <a:avLst/>
          </a:prstGeom>
          <a:noFill/>
          <a:ln/>
        </p:spPr>
        <p:txBody>
          <a:bodyPr wrap="none" lIns="0" tIns="0" rIns="0" bIns="0" rtlCol="0" anchor="t"/>
          <a:lstStyle/>
          <a:p>
            <a:pPr marL="0" indent="0" algn="l">
              <a:lnSpc>
                <a:spcPct val="104000"/>
              </a:lnSpc>
              <a:buNone/>
            </a:pPr>
            <a:r>
              <a:rPr lang="en-US" sz="1550" dirty="0">
                <a:solidFill>
                  <a:srgbClr val="F98AC7"/>
                </a:solidFill>
                <a:latin typeface="Lora" pitchFamily="34" charset="0"/>
                <a:ea typeface="Lora" pitchFamily="34" charset="-122"/>
                <a:cs typeface="Lora" pitchFamily="34" charset="-120"/>
              </a:rPr>
              <a:t>Boolean Expression</a:t>
            </a:r>
            <a:endParaRPr lang="en-US" sz="1550" dirty="0"/>
          </a:p>
        </p:txBody>
      </p:sp>
      <p:sp>
        <p:nvSpPr>
          <p:cNvPr id="4" name="Text 2"/>
          <p:cNvSpPr/>
          <p:nvPr/>
        </p:nvSpPr>
        <p:spPr>
          <a:xfrm>
            <a:off x="698086" y="1969195"/>
            <a:ext cx="5190995" cy="1376362"/>
          </a:xfrm>
          <a:prstGeom prst="rect">
            <a:avLst/>
          </a:prstGeom>
          <a:noFill/>
          <a:ln/>
        </p:spPr>
        <p:txBody>
          <a:bodyPr wrap="square" lIns="0" tIns="0" rIns="0" bIns="0" rtlCol="0" anchor="t">
            <a:normAutofit/>
          </a:bodyPr>
          <a:lstStyle/>
          <a:p>
            <a:pPr marL="0" indent="0" algn="l">
              <a:lnSpc>
                <a:spcPct val="104000"/>
              </a:lnSpc>
              <a:buNone/>
            </a:pPr>
            <a:r>
              <a:rPr lang="en-US" sz="4300" dirty="0">
                <a:solidFill>
                  <a:srgbClr val="8B5CF6"/>
                </a:solidFill>
                <a:latin typeface="Lora" pitchFamily="34" charset="0"/>
                <a:ea typeface="Lora" pitchFamily="34" charset="-122"/>
                <a:cs typeface="Lora" pitchFamily="34" charset="-120"/>
              </a:rPr>
              <a:t>Pₒ = NOT(A ⊕ B ⊕ C)</a:t>
            </a:r>
            <a:endParaRPr lang="en-US" sz="4300" dirty="0"/>
          </a:p>
        </p:txBody>
      </p:sp>
      <p:sp>
        <p:nvSpPr>
          <p:cNvPr id="5" name="Text 3"/>
          <p:cNvSpPr/>
          <p:nvPr/>
        </p:nvSpPr>
        <p:spPr>
          <a:xfrm>
            <a:off x="698086" y="3489623"/>
            <a:ext cx="5190995" cy="752773"/>
          </a:xfrm>
          <a:prstGeom prst="rect">
            <a:avLst/>
          </a:prstGeom>
          <a:noFill/>
          <a:ln/>
        </p:spPr>
        <p:txBody>
          <a:bodyPr wrap="square" lIns="0" tIns="0" rIns="0" bIns="0" rtlCol="0" anchor="t">
            <a:normAutofit/>
          </a:bodyPr>
          <a:lstStyle/>
          <a:p>
            <a:pPr marL="0" indent="0" algn="l">
              <a:lnSpc>
                <a:spcPct val="123000"/>
              </a:lnSpc>
              <a:buNone/>
            </a:pPr>
            <a:r>
              <a:rPr lang="en-US" sz="1300" dirty="0">
                <a:solidFill>
                  <a:srgbClr val="D6E5EF"/>
                </a:solidFill>
                <a:latin typeface="Source Sans 3" pitchFamily="34" charset="0"/>
                <a:ea typeface="Source Sans 3" pitchFamily="34" charset="-122"/>
                <a:cs typeface="Source Sans 3" pitchFamily="34" charset="-120"/>
              </a:rPr>
              <a:t>The XOR of all input bits is inverted to generate the odd-parity bit. Output is </a:t>
            </a:r>
            <a:r>
              <a:rPr lang="en-US" sz="1300" b="1" dirty="0">
                <a:solidFill>
                  <a:srgbClr val="D6E5EF"/>
                </a:solidFill>
                <a:latin typeface="Source Sans 3 Bold" pitchFamily="34" charset="0"/>
                <a:ea typeface="Source Sans 3 Bold" pitchFamily="34" charset="-122"/>
                <a:cs typeface="Source Sans 3 Bold" pitchFamily="34" charset="-120"/>
              </a:rPr>
              <a:t>1</a:t>
            </a:r>
            <a:r>
              <a:rPr lang="en-US" sz="1300" dirty="0">
                <a:solidFill>
                  <a:srgbClr val="D6E5EF"/>
                </a:solidFill>
                <a:latin typeface="Source Sans 3" pitchFamily="34" charset="0"/>
                <a:ea typeface="Source Sans 3" pitchFamily="34" charset="-122"/>
                <a:cs typeface="Source Sans 3" pitchFamily="34" charset="-120"/>
              </a:rPr>
              <a:t> when an </a:t>
            </a:r>
            <a:r>
              <a:rPr lang="en-US" sz="1300" b="1" dirty="0">
                <a:solidFill>
                  <a:srgbClr val="D6E5EF"/>
                </a:solidFill>
                <a:latin typeface="Source Sans 3 Bold" pitchFamily="34" charset="0"/>
                <a:ea typeface="Source Sans 3 Bold" pitchFamily="34" charset="-122"/>
                <a:cs typeface="Source Sans 3 Bold" pitchFamily="34" charset="-120"/>
              </a:rPr>
              <a:t>even number</a:t>
            </a:r>
            <a:r>
              <a:rPr lang="en-US" sz="1300" dirty="0">
                <a:solidFill>
                  <a:srgbClr val="D6E5EF"/>
                </a:solidFill>
                <a:latin typeface="Source Sans 3" pitchFamily="34" charset="0"/>
                <a:ea typeface="Source Sans 3" pitchFamily="34" charset="-122"/>
                <a:cs typeface="Source Sans 3" pitchFamily="34" charset="-120"/>
              </a:rPr>
              <a:t> of inputs are 1, ensuring the total count of 1s (data + parity) remains odd.</a:t>
            </a:r>
            <a:endParaRPr lang="en-US" sz="1300" dirty="0"/>
          </a:p>
        </p:txBody>
      </p:sp>
      <p:sp>
        <p:nvSpPr>
          <p:cNvPr id="6" name="Shape 4"/>
          <p:cNvSpPr/>
          <p:nvPr/>
        </p:nvSpPr>
        <p:spPr>
          <a:xfrm>
            <a:off x="698086" y="4404519"/>
            <a:ext cx="5190995" cy="1096863"/>
          </a:xfrm>
          <a:prstGeom prst="roundRect">
            <a:avLst>
              <a:gd name="adj" fmla="val 2319"/>
            </a:avLst>
          </a:prstGeom>
          <a:solidFill>
            <a:srgbClr val="790645"/>
          </a:solidFill>
          <a:ln/>
        </p:spPr>
        <p:txBody>
          <a:bodyPr/>
          <a:p/>
        </p:txBody>
      </p:sp>
      <p:pic>
        <p:nvPicPr>
          <p:cNvPr id="7" name="Image 0" descr="preencoded.png"/>
          <p:cNvPicPr>
            <a:picLocks noChangeAspect="1"/>
          </p:cNvPicPr>
          <p:nvPr/>
        </p:nvPicPr>
        <p:blipFill>
          <a:blip r:embed="rId3"/>
          <a:stretch>
            <a:fillRect/>
          </a:stretch>
        </p:blipFill>
        <p:spPr>
          <a:xfrm>
            <a:off x="867547" y="4614069"/>
            <a:ext cx="211926" cy="169466"/>
          </a:xfrm>
          <a:prstGeom prst="rect">
            <a:avLst/>
          </a:prstGeom>
        </p:spPr>
      </p:pic>
      <p:sp>
        <p:nvSpPr>
          <p:cNvPr id="8" name="Text 5"/>
          <p:cNvSpPr/>
          <p:nvPr/>
        </p:nvSpPr>
        <p:spPr>
          <a:xfrm>
            <a:off x="1248934" y="4576564"/>
            <a:ext cx="4470685" cy="752773"/>
          </a:xfrm>
          <a:prstGeom prst="rect">
            <a:avLst/>
          </a:prstGeom>
          <a:noFill/>
          <a:ln/>
        </p:spPr>
        <p:txBody>
          <a:bodyPr wrap="square" lIns="0" tIns="0" rIns="0" bIns="0" rtlCol="0" anchor="t">
            <a:normAutofit/>
          </a:bodyPr>
          <a:lstStyle/>
          <a:p>
            <a:pPr marL="0" indent="0" algn="l">
              <a:lnSpc>
                <a:spcPct val="123000"/>
              </a:lnSpc>
              <a:buNone/>
            </a:pPr>
            <a:r>
              <a:rPr lang="en-US" sz="1300" dirty="0">
                <a:solidFill>
                  <a:srgbClr val="FFFFFF"/>
                </a:solidFill>
                <a:latin typeface="Source Sans 3" pitchFamily="34" charset="0"/>
                <a:ea typeface="Source Sans 3" pitchFamily="34" charset="-122"/>
                <a:cs typeface="Source Sans 3" pitchFamily="34" charset="-120"/>
              </a:rPr>
              <a:t>Two cascaded 2-input XOR gates implement the core expression: first XOR(A, B), then XOR(result, C), followed by a NOT gate.</a:t>
            </a:r>
            <a:endParaRPr lang="en-US" sz="1300" dirty="0"/>
          </a:p>
        </p:txBody>
      </p:sp>
      <p:sp>
        <p:nvSpPr>
          <p:cNvPr id="9" name="Text 6"/>
          <p:cNvSpPr/>
          <p:nvPr/>
        </p:nvSpPr>
        <p:spPr>
          <a:xfrm>
            <a:off x="6308964" y="1575792"/>
            <a:ext cx="5190995" cy="249337"/>
          </a:xfrm>
          <a:prstGeom prst="rect">
            <a:avLst/>
          </a:prstGeom>
          <a:noFill/>
          <a:ln/>
        </p:spPr>
        <p:txBody>
          <a:bodyPr wrap="none" lIns="0" tIns="0" rIns="0" bIns="0" rtlCol="0" anchor="t"/>
          <a:lstStyle/>
          <a:p>
            <a:pPr marL="0" indent="0" algn="l">
              <a:lnSpc>
                <a:spcPct val="104000"/>
              </a:lnSpc>
              <a:buNone/>
            </a:pPr>
            <a:r>
              <a:rPr lang="en-US" sz="1550" dirty="0">
                <a:solidFill>
                  <a:srgbClr val="F98AC7"/>
                </a:solidFill>
                <a:latin typeface="Lora" pitchFamily="34" charset="0"/>
                <a:ea typeface="Lora" pitchFamily="34" charset="-122"/>
                <a:cs typeface="Lora" pitchFamily="34" charset="-120"/>
              </a:rPr>
              <a:t>Truth Table — Odd Parity</a:t>
            </a:r>
            <a:endParaRPr lang="en-US" sz="15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08964" y="1987252"/>
          <a:ext cx="9143771" cy="914400"/>
        </p:xfrm>
        <a:graphic>
          <a:graphicData uri="http://schemas.openxmlformats.org/drawingml/2006/table">
            <a:tbl>
              <a:tblPr/>
              <a:tblGrid>
                <a:gridCol w="1297749">
                  <a:extLst>
                    <a:ext uri="{9D8B030D-6E8A-4147-A177-3AD203B41FA5}">
                      <a16:colId xmlns:a16="http://schemas.microsoft.com/office/drawing/2014/main" val="20000"/>
                    </a:ext>
                  </a:extLst>
                </a:gridCol>
                <a:gridCol w="1297749">
                  <a:extLst>
                    <a:ext uri="{9D8B030D-6E8A-4147-A177-3AD203B41FA5}">
                      <a16:colId xmlns:a16="http://schemas.microsoft.com/office/drawing/2014/main" val="20001"/>
                    </a:ext>
                  </a:extLst>
                </a:gridCol>
                <a:gridCol w="1297749">
                  <a:extLst>
                    <a:ext uri="{9D8B030D-6E8A-4147-A177-3AD203B41FA5}">
                      <a16:colId xmlns:a16="http://schemas.microsoft.com/office/drawing/2014/main" val="20002"/>
                    </a:ext>
                  </a:extLst>
                </a:gridCol>
                <a:gridCol w="1297749">
                  <a:extLst>
                    <a:ext uri="{9D8B030D-6E8A-4147-A177-3AD203B41FA5}">
                      <a16:colId xmlns:a16="http://schemas.microsoft.com/office/drawing/2014/main" val="20003"/>
                    </a:ext>
                  </a:extLst>
                </a:gridCol>
              </a:tblGrid>
              <a:tr h="439627">
                <a:tc>
                  <a:txBody>
                    <a:bodyPr/>
                    <a:lstStyle/>
                    <a:p>
                      <a:pPr marL="0" indent="0">
                        <a:buNone/>
                      </a:pPr>
                      <a:r>
                        <a:rPr lang="en-US" sz="1300" b="1" dirty="0">
                          <a:solidFill>
                            <a:srgbClr val="000000"/>
                          </a:solidFill>
                          <a:latin typeface="Source Sans 3" pitchFamily="34" charset="0"/>
                          <a:ea typeface="Source Sans 3" pitchFamily="34" charset="-122"/>
                          <a:cs typeface="Source Sans 3" pitchFamily="34" charset="-120"/>
                        </a:rPr>
                        <a:t>A</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8B5CF6"/>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8B5CF6"/>
                    </a:solidFill>
                  </a:tcPr>
                </a:tc>
                <a:tc>
                  <a:txBody>
                    <a:bodyPr/>
                    <a:lstStyle/>
                    <a:p>
                      <a:pPr marL="0" indent="0">
                        <a:buNone/>
                      </a:pPr>
                      <a:r>
                        <a:rPr lang="en-US" sz="1300" b="1" dirty="0">
                          <a:solidFill>
                            <a:srgbClr val="000000"/>
                          </a:solidFill>
                          <a:latin typeface="Source Sans 3" pitchFamily="34" charset="0"/>
                          <a:ea typeface="Source Sans 3" pitchFamily="34" charset="-122"/>
                          <a:cs typeface="Source Sans 3" pitchFamily="34" charset="-120"/>
                        </a:rPr>
                        <a:t>B</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8B5CF6"/>
                      </a:solidFill>
                      <a:prstDash val="solid"/>
                      <a:round/>
                      <a:headEnd type="none" w="med" len="med"/>
                      <a:tailEnd type="none" w="med" len="med"/>
                    </a:lnL>
                    <a:lnR w="12700" cap="flat" cmpd="sng" algn="ctr">
                      <a:solidFill>
                        <a:srgbClr val="8B5CF6"/>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8B5CF6"/>
                    </a:solidFill>
                  </a:tcPr>
                </a:tc>
                <a:tc>
                  <a:txBody>
                    <a:bodyPr/>
                    <a:lstStyle/>
                    <a:p>
                      <a:pPr marL="0" indent="0">
                        <a:buNone/>
                      </a:pPr>
                      <a:r>
                        <a:rPr lang="en-US" sz="1300" b="1" dirty="0">
                          <a:solidFill>
                            <a:srgbClr val="000000"/>
                          </a:solidFill>
                          <a:latin typeface="Source Sans 3" pitchFamily="34" charset="0"/>
                          <a:ea typeface="Source Sans 3" pitchFamily="34" charset="-122"/>
                          <a:cs typeface="Source Sans 3" pitchFamily="34" charset="-120"/>
                        </a:rPr>
                        <a:t>C</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8B5CF6"/>
                      </a:solidFill>
                      <a:prstDash val="solid"/>
                      <a:round/>
                      <a:headEnd type="none" w="med" len="med"/>
                      <a:tailEnd type="none" w="med" len="med"/>
                    </a:lnL>
                    <a:lnR w="12700" cap="flat" cmpd="sng" algn="ctr">
                      <a:solidFill>
                        <a:srgbClr val="8B5CF6"/>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8B5CF6"/>
                    </a:solidFill>
                  </a:tcPr>
                </a:tc>
                <a:tc>
                  <a:txBody>
                    <a:bodyPr/>
                    <a:lstStyle/>
                    <a:p>
                      <a:pPr marL="0" indent="0">
                        <a:buNone/>
                      </a:pPr>
                      <a:r>
                        <a:rPr lang="en-US" sz="1300" b="1" dirty="0">
                          <a:solidFill>
                            <a:srgbClr val="000000"/>
                          </a:solidFill>
                          <a:latin typeface="Source Sans 3" pitchFamily="34" charset="0"/>
                          <a:ea typeface="Source Sans 3" pitchFamily="34" charset="-122"/>
                          <a:cs typeface="Source Sans 3" pitchFamily="34" charset="-120"/>
                        </a:rPr>
                        <a:t>Pₒ</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8B5CF6"/>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6366F1"/>
                    </a:solidFill>
                  </a:tcPr>
                </a:tc>
                <a:extLst>
                  <a:ext uri="{0D108BD9-81ED-4DB2-BD59-A6C34878D82A}">
                    <a16:rowId xmlns:a16="http://schemas.microsoft.com/office/drawing/2014/main" val="10000"/>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1"/>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2"/>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3"/>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4"/>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5"/>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6"/>
                  </a:ext>
                </a:extLst>
              </a:tr>
              <a:tr h="442802">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7"/>
                  </a:ext>
                </a:extLst>
              </a:tr>
              <a:tr h="439627">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595C64"/>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1</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252833"/>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tc>
                  <a:txBody>
                    <a:bodyPr/>
                    <a:lstStyle/>
                    <a:p>
                      <a:pPr marL="0" indent="0">
                        <a:buNone/>
                      </a:pPr>
                      <a:r>
                        <a:rPr lang="en-US" sz="1300" dirty="0">
                          <a:solidFill>
                            <a:srgbClr val="D6E5EF"/>
                          </a:solidFill>
                          <a:latin typeface="Source Sans 3" pitchFamily="34" charset="0"/>
                          <a:ea typeface="Source Sans 3" pitchFamily="34" charset="-122"/>
                          <a:cs typeface="Source Sans 3" pitchFamily="34" charset="-120"/>
                        </a:rPr>
                        <a:t>0</a:t>
                      </a:r>
                      <a:endParaRPr lang="en-US" sz="1300" dirty="0">
                        <a:latin typeface="Source Sans 3" charset="0"/>
                        <a:ea typeface="Source Sans 3" charset="0"/>
                        <a:cs typeface="Source Sans 3" charset="0"/>
                      </a:endParaRPr>
                    </a:p>
                  </a:txBody>
                  <a:tcPr marL="169557" marR="169557" marT="6350" marB="6350" anchor="ctr">
                    <a:lnL w="12700" cap="flat" cmpd="sng" algn="ctr">
                      <a:solidFill>
                        <a:srgbClr val="252833"/>
                      </a:solidFill>
                      <a:prstDash val="solid"/>
                      <a:round/>
                      <a:headEnd type="none" w="med" len="med"/>
                      <a:tailEnd type="none" w="med" len="med"/>
                    </a:lnL>
                    <a:lnR w="12700" cap="flat" cmpd="sng" algn="ctr">
                      <a:solidFill>
                        <a:srgbClr val="595C64"/>
                      </a:solidFill>
                      <a:prstDash val="solid"/>
                      <a:round/>
                      <a:headEnd type="none" w="med" len="med"/>
                      <a:tailEnd type="none" w="med" len="med"/>
                    </a:lnR>
                    <a:lnT w="12700" cap="flat" cmpd="sng" algn="ctr">
                      <a:solidFill>
                        <a:srgbClr val="595C64"/>
                      </a:solidFill>
                      <a:prstDash val="solid"/>
                      <a:round/>
                      <a:headEnd type="none" w="med" len="med"/>
                      <a:tailEnd type="none" w="med" len="med"/>
                    </a:lnT>
                    <a:lnB w="12700" cap="flat" cmpd="sng" algn="ctr">
                      <a:solidFill>
                        <a:srgbClr val="595C64"/>
                      </a:solidFill>
                      <a:prstDash val="solid"/>
                      <a:round/>
                      <a:headEnd type="none" w="med" len="med"/>
                      <a:tailEnd type="none" w="med" len="med"/>
                    </a:lnB>
                    <a:solidFill>
                      <a:srgbClr val="25283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564852"/>
            <a:ext cx="10795524" cy="539948"/>
          </a:xfrm>
          <a:prstGeom prst="rect">
            <a:avLst/>
          </a:prstGeom>
          <a:noFill/>
          <a:ln/>
        </p:spPr>
        <p:txBody>
          <a:bodyPr wrap="none" lIns="0" tIns="0" rIns="0" bIns="0" rtlCol="0" anchor="t"/>
          <a:lstStyle/>
          <a:p>
            <a:pPr marL="0" indent="0" algn="l">
              <a:lnSpc>
                <a:spcPct val="104000"/>
              </a:lnSpc>
              <a:buNone/>
            </a:pPr>
            <a:r>
              <a:rPr lang="en-US" sz="3400" dirty="0">
                <a:solidFill>
                  <a:srgbClr val="F98AC7"/>
                </a:solidFill>
                <a:latin typeface="Lora" pitchFamily="34" charset="0"/>
                <a:ea typeface="Lora" pitchFamily="34" charset="-122"/>
                <a:cs typeface="Lora" pitchFamily="34" charset="-120"/>
              </a:rPr>
              <a:t>Circuit Design &amp; Implementation Flow</a:t>
            </a:r>
            <a:endParaRPr lang="en-US" sz="3400" dirty="0"/>
          </a:p>
        </p:txBody>
      </p:sp>
      <p:pic>
        <p:nvPicPr>
          <p:cNvPr id="3" name="Image 0" descr="preencoded.png"/>
          <p:cNvPicPr>
            <a:picLocks noChangeAspect="1"/>
          </p:cNvPicPr>
          <p:nvPr/>
        </p:nvPicPr>
        <p:blipFill>
          <a:blip r:embed="rId3"/>
          <a:stretch>
            <a:fillRect/>
          </a:stretch>
        </p:blipFill>
        <p:spPr>
          <a:xfrm>
            <a:off x="1132157" y="1442641"/>
            <a:ext cx="9927282" cy="3725267"/>
          </a:xfrm>
          <a:prstGeom prst="rect">
            <a:avLst/>
          </a:prstGeom>
        </p:spPr>
      </p:pic>
      <p:sp>
        <p:nvSpPr>
          <p:cNvPr id="4" name="Text 1"/>
          <p:cNvSpPr/>
          <p:nvPr/>
        </p:nvSpPr>
        <p:spPr>
          <a:xfrm>
            <a:off x="9153308" y="4136487"/>
            <a:ext cx="1497332" cy="542604"/>
          </a:xfrm>
          <a:prstGeom prst="rect">
            <a:avLst/>
          </a:prstGeom>
          <a:noFill/>
          <a:ln/>
        </p:spPr>
        <p:txBody>
          <a:bodyPr wrap="square" lIns="0" tIns="0" rIns="0" bIns="0" rtlCol="0" anchor="t">
            <a:normAutofit/>
          </a:bodyPr>
          <a:lstStyle/>
          <a:p>
            <a:pPr marL="0" indent="0" algn="ctr">
              <a:lnSpc>
                <a:spcPct val="104000"/>
              </a:lnSpc>
              <a:buNone/>
            </a:pPr>
            <a:r>
              <a:rPr lang="en-US" sz="1700" dirty="0">
                <a:solidFill>
                  <a:srgbClr val="D6E5EF"/>
                </a:solidFill>
                <a:latin typeface="Lora" pitchFamily="34" charset="0"/>
                <a:ea typeface="Lora" pitchFamily="34" charset="-122"/>
                <a:cs typeface="Lora" pitchFamily="34" charset="-120"/>
              </a:rPr>
              <a:t>Circuit Diagram</a:t>
            </a:r>
            <a:endParaRPr lang="en-US" sz="1700" dirty="0"/>
          </a:p>
        </p:txBody>
      </p:sp>
      <p:sp>
        <p:nvSpPr>
          <p:cNvPr id="5" name="Text 2"/>
          <p:cNvSpPr/>
          <p:nvPr/>
        </p:nvSpPr>
        <p:spPr>
          <a:xfrm>
            <a:off x="7266260" y="4272058"/>
            <a:ext cx="1497332" cy="271302"/>
          </a:xfrm>
          <a:prstGeom prst="rect">
            <a:avLst/>
          </a:prstGeom>
          <a:noFill/>
          <a:ln/>
        </p:spPr>
        <p:txBody>
          <a:bodyPr wrap="none" lIns="0" tIns="0" rIns="0" bIns="0" rtlCol="0" anchor="t"/>
          <a:lstStyle/>
          <a:p>
            <a:pPr marL="0" indent="0" algn="ctr">
              <a:lnSpc>
                <a:spcPct val="104000"/>
              </a:lnSpc>
              <a:buNone/>
            </a:pPr>
            <a:r>
              <a:rPr lang="en-US" sz="1700" dirty="0">
                <a:solidFill>
                  <a:srgbClr val="D6E5EF"/>
                </a:solidFill>
                <a:latin typeface="Lora" pitchFamily="34" charset="0"/>
                <a:ea typeface="Lora" pitchFamily="34" charset="-122"/>
                <a:cs typeface="Lora" pitchFamily="34" charset="-120"/>
              </a:rPr>
              <a:t>Logic Gates</a:t>
            </a:r>
            <a:endParaRPr lang="en-US" sz="1700" dirty="0"/>
          </a:p>
        </p:txBody>
      </p:sp>
      <p:sp>
        <p:nvSpPr>
          <p:cNvPr id="6" name="Text 3"/>
          <p:cNvSpPr/>
          <p:nvPr/>
        </p:nvSpPr>
        <p:spPr>
          <a:xfrm>
            <a:off x="5389468" y="4136487"/>
            <a:ext cx="1497332" cy="542604"/>
          </a:xfrm>
          <a:prstGeom prst="rect">
            <a:avLst/>
          </a:prstGeom>
          <a:noFill/>
          <a:ln/>
        </p:spPr>
        <p:txBody>
          <a:bodyPr wrap="square" lIns="0" tIns="0" rIns="0" bIns="0" rtlCol="0" anchor="t">
            <a:normAutofit/>
          </a:bodyPr>
          <a:lstStyle/>
          <a:p>
            <a:pPr marL="0" indent="0" algn="ctr">
              <a:lnSpc>
                <a:spcPct val="104000"/>
              </a:lnSpc>
              <a:buNone/>
            </a:pPr>
            <a:r>
              <a:rPr lang="en-US" sz="1700" dirty="0">
                <a:solidFill>
                  <a:srgbClr val="D6E5EF"/>
                </a:solidFill>
                <a:latin typeface="Lora" pitchFamily="34" charset="0"/>
                <a:ea typeface="Lora" pitchFamily="34" charset="-122"/>
                <a:cs typeface="Lora" pitchFamily="34" charset="-120"/>
              </a:rPr>
              <a:t>Boolean Expression</a:t>
            </a:r>
            <a:endParaRPr lang="en-US" sz="1700" dirty="0"/>
          </a:p>
        </p:txBody>
      </p:sp>
      <p:sp>
        <p:nvSpPr>
          <p:cNvPr id="7" name="Text 4"/>
          <p:cNvSpPr/>
          <p:nvPr/>
        </p:nvSpPr>
        <p:spPr>
          <a:xfrm>
            <a:off x="3512675" y="4272058"/>
            <a:ext cx="1497332" cy="271302"/>
          </a:xfrm>
          <a:prstGeom prst="rect">
            <a:avLst/>
          </a:prstGeom>
          <a:noFill/>
          <a:ln/>
        </p:spPr>
        <p:txBody>
          <a:bodyPr wrap="none" lIns="0" tIns="0" rIns="0" bIns="0" rtlCol="0" anchor="t"/>
          <a:lstStyle/>
          <a:p>
            <a:pPr marL="0" indent="0" algn="ctr">
              <a:lnSpc>
                <a:spcPct val="104000"/>
              </a:lnSpc>
              <a:buNone/>
            </a:pPr>
            <a:r>
              <a:rPr lang="en-US" sz="1700" dirty="0">
                <a:solidFill>
                  <a:srgbClr val="D6E5EF"/>
                </a:solidFill>
                <a:latin typeface="Lora" pitchFamily="34" charset="0"/>
                <a:ea typeface="Lora" pitchFamily="34" charset="-122"/>
                <a:cs typeface="Lora" pitchFamily="34" charset="-120"/>
              </a:rPr>
              <a:t>Truth Table</a:t>
            </a:r>
            <a:endParaRPr lang="en-US" sz="1700" dirty="0"/>
          </a:p>
        </p:txBody>
      </p:sp>
      <p:sp>
        <p:nvSpPr>
          <p:cNvPr id="8" name="Text 5"/>
          <p:cNvSpPr/>
          <p:nvPr/>
        </p:nvSpPr>
        <p:spPr>
          <a:xfrm>
            <a:off x="1594860" y="4272058"/>
            <a:ext cx="1497332" cy="271302"/>
          </a:xfrm>
          <a:prstGeom prst="rect">
            <a:avLst/>
          </a:prstGeom>
          <a:noFill/>
          <a:ln/>
        </p:spPr>
        <p:txBody>
          <a:bodyPr wrap="none" lIns="0" tIns="0" rIns="0" bIns="0" rtlCol="0" anchor="t"/>
          <a:lstStyle/>
          <a:p>
            <a:pPr marL="0" indent="0" algn="ctr">
              <a:lnSpc>
                <a:spcPct val="104000"/>
              </a:lnSpc>
              <a:buNone/>
            </a:pPr>
            <a:r>
              <a:rPr lang="en-US" sz="1700" dirty="0">
                <a:solidFill>
                  <a:srgbClr val="D6E5EF"/>
                </a:solidFill>
                <a:latin typeface="Lora" pitchFamily="34" charset="0"/>
                <a:ea typeface="Lora" pitchFamily="34" charset="-122"/>
                <a:cs typeface="Lora" pitchFamily="34" charset="-120"/>
              </a:rPr>
              <a:t>Specification</a:t>
            </a:r>
            <a:endParaRPr lang="en-US" sz="1700" dirty="0"/>
          </a:p>
        </p:txBody>
      </p:sp>
      <p:sp>
        <p:nvSpPr>
          <p:cNvPr id="9" name="Shape 6"/>
          <p:cNvSpPr/>
          <p:nvPr/>
        </p:nvSpPr>
        <p:spPr>
          <a:xfrm>
            <a:off x="698086" y="5455444"/>
            <a:ext cx="91775" cy="91777"/>
          </a:xfrm>
          <a:prstGeom prst="ellipse">
            <a:avLst/>
          </a:prstGeom>
          <a:solidFill>
            <a:srgbClr val="6EB9FC"/>
          </a:solidFill>
          <a:ln/>
        </p:spPr>
        <p:txBody>
          <a:bodyPr/>
          <a:p/>
        </p:txBody>
      </p:sp>
      <p:sp>
        <p:nvSpPr>
          <p:cNvPr id="10" name="Text 7"/>
          <p:cNvSpPr/>
          <p:nvPr/>
        </p:nvSpPr>
        <p:spPr>
          <a:xfrm>
            <a:off x="958727" y="5357912"/>
            <a:ext cx="3197046" cy="269974"/>
          </a:xfrm>
          <a:prstGeom prst="rect">
            <a:avLst/>
          </a:prstGeom>
          <a:noFill/>
          <a:ln/>
        </p:spPr>
        <p:txBody>
          <a:bodyPr wrap="none" lIns="0" tIns="0" rIns="0" bIns="0" rtlCol="0" anchor="t"/>
          <a:lstStyle/>
          <a:p>
            <a:pPr marL="0" indent="0" algn="l">
              <a:lnSpc>
                <a:spcPct val="104000"/>
              </a:lnSpc>
              <a:buNone/>
            </a:pPr>
            <a:r>
              <a:rPr lang="en-US" sz="1700" dirty="0">
                <a:solidFill>
                  <a:srgbClr val="D6E5EF"/>
                </a:solidFill>
                <a:latin typeface="Lora" pitchFamily="34" charset="0"/>
                <a:ea typeface="Lora" pitchFamily="34" charset="-122"/>
                <a:cs typeface="Lora" pitchFamily="34" charset="-120"/>
              </a:rPr>
              <a:t>Specification</a:t>
            </a:r>
            <a:endParaRPr lang="en-US" sz="1700" dirty="0"/>
          </a:p>
        </p:txBody>
      </p:sp>
      <p:sp>
        <p:nvSpPr>
          <p:cNvPr id="11" name="Text 8"/>
          <p:cNvSpPr/>
          <p:nvPr/>
        </p:nvSpPr>
        <p:spPr>
          <a:xfrm>
            <a:off x="958727" y="5729188"/>
            <a:ext cx="3197046" cy="563959"/>
          </a:xfrm>
          <a:prstGeom prst="rect">
            <a:avLst/>
          </a:prstGeom>
          <a:noFill/>
          <a:ln/>
        </p:spPr>
        <p:txBody>
          <a:bodyPr wrap="square" lIns="0" tIns="0" rIns="0" bIns="0" rtlCol="0" anchor="t">
            <a:normAutofit/>
          </a:bodyPr>
          <a:lstStyle/>
          <a:p>
            <a:pPr marL="0" indent="0" algn="l">
              <a:lnSpc>
                <a:spcPct val="128000"/>
              </a:lnSpc>
              <a:buNone/>
            </a:pPr>
            <a:r>
              <a:rPr lang="en-US" sz="1400" dirty="0">
                <a:solidFill>
                  <a:srgbClr val="D6E5EF"/>
                </a:solidFill>
                <a:latin typeface="Source Sans 3" pitchFamily="34" charset="0"/>
                <a:ea typeface="Source Sans 3" pitchFamily="34" charset="-122"/>
                <a:cs typeface="Source Sans 3" pitchFamily="34" charset="-120"/>
              </a:rPr>
              <a:t>Design a 3-bit even/odd parity generator using XOR and NOT gates.</a:t>
            </a:r>
            <a:endParaRPr lang="en-US" sz="1400" dirty="0"/>
          </a:p>
        </p:txBody>
      </p:sp>
      <p:sp>
        <p:nvSpPr>
          <p:cNvPr id="12" name="Shape 9"/>
          <p:cNvSpPr/>
          <p:nvPr/>
        </p:nvSpPr>
        <p:spPr>
          <a:xfrm>
            <a:off x="4366905" y="5455444"/>
            <a:ext cx="91775" cy="91777"/>
          </a:xfrm>
          <a:prstGeom prst="ellipse">
            <a:avLst/>
          </a:prstGeom>
          <a:solidFill>
            <a:srgbClr val="6EB9FC"/>
          </a:solidFill>
          <a:ln/>
        </p:spPr>
        <p:txBody>
          <a:bodyPr/>
          <a:p/>
        </p:txBody>
      </p:sp>
      <p:sp>
        <p:nvSpPr>
          <p:cNvPr id="13" name="Text 10"/>
          <p:cNvSpPr/>
          <p:nvPr/>
        </p:nvSpPr>
        <p:spPr>
          <a:xfrm>
            <a:off x="4627546" y="5357912"/>
            <a:ext cx="3197145" cy="269974"/>
          </a:xfrm>
          <a:prstGeom prst="rect">
            <a:avLst/>
          </a:prstGeom>
          <a:noFill/>
          <a:ln/>
        </p:spPr>
        <p:txBody>
          <a:bodyPr wrap="none" lIns="0" tIns="0" rIns="0" bIns="0" rtlCol="0" anchor="t"/>
          <a:lstStyle/>
          <a:p>
            <a:pPr marL="0" indent="0" algn="l">
              <a:lnSpc>
                <a:spcPct val="104000"/>
              </a:lnSpc>
              <a:buNone/>
            </a:pPr>
            <a:r>
              <a:rPr lang="en-US" sz="1700" dirty="0">
                <a:solidFill>
                  <a:srgbClr val="D6E5EF"/>
                </a:solidFill>
                <a:latin typeface="Lora" pitchFamily="34" charset="0"/>
                <a:ea typeface="Lora" pitchFamily="34" charset="-122"/>
                <a:cs typeface="Lora" pitchFamily="34" charset="-120"/>
              </a:rPr>
              <a:t>Boolean Expressions</a:t>
            </a:r>
            <a:endParaRPr lang="en-US" sz="1700" dirty="0"/>
          </a:p>
        </p:txBody>
      </p:sp>
      <p:sp>
        <p:nvSpPr>
          <p:cNvPr id="14" name="Text 11"/>
          <p:cNvSpPr/>
          <p:nvPr/>
        </p:nvSpPr>
        <p:spPr>
          <a:xfrm>
            <a:off x="4627546" y="5729188"/>
            <a:ext cx="3197145" cy="281980"/>
          </a:xfrm>
          <a:prstGeom prst="rect">
            <a:avLst/>
          </a:prstGeom>
          <a:noFill/>
          <a:ln/>
        </p:spPr>
        <p:txBody>
          <a:bodyPr wrap="none" lIns="0" tIns="0" rIns="0" bIns="0" rtlCol="0" anchor="t"/>
          <a:lstStyle/>
          <a:p>
            <a:pPr marL="0" indent="0" algn="l">
              <a:lnSpc>
                <a:spcPct val="128000"/>
              </a:lnSpc>
              <a:buNone/>
            </a:pPr>
            <a:r>
              <a:rPr lang="en-US" sz="1400" dirty="0">
                <a:solidFill>
                  <a:srgbClr val="6366F1"/>
                </a:solidFill>
                <a:latin typeface="Source Sans 3" pitchFamily="34" charset="0"/>
                <a:ea typeface="Source Sans 3" pitchFamily="34" charset="-122"/>
                <a:cs typeface="Source Sans 3" pitchFamily="34" charset="-120"/>
              </a:rPr>
              <a:t>Pₑ = A ⊕ B ⊕ C</a:t>
            </a:r>
            <a:r>
              <a:rPr lang="en-US" sz="1400" dirty="0">
                <a:solidFill>
                  <a:srgbClr val="D6E5EF"/>
                </a:solidFill>
                <a:latin typeface="Source Sans 3" pitchFamily="34" charset="0"/>
                <a:ea typeface="Source Sans 3" pitchFamily="34" charset="-122"/>
                <a:cs typeface="Source Sans 3" pitchFamily="34" charset="-120"/>
              </a:rPr>
              <a:t>  |  </a:t>
            </a:r>
            <a:r>
              <a:rPr lang="en-US" sz="1400" dirty="0">
                <a:solidFill>
                  <a:srgbClr val="8B5CF6"/>
                </a:solidFill>
                <a:latin typeface="Source Sans 3" pitchFamily="34" charset="0"/>
                <a:ea typeface="Source Sans 3" pitchFamily="34" charset="-122"/>
                <a:cs typeface="Source Sans 3" pitchFamily="34" charset="-120"/>
              </a:rPr>
              <a:t>Pₒ = NOT(A ⊕ B ⊕ C)</a:t>
            </a:r>
            <a:endParaRPr lang="en-US" sz="1400" dirty="0"/>
          </a:p>
        </p:txBody>
      </p:sp>
      <p:sp>
        <p:nvSpPr>
          <p:cNvPr id="15" name="Shape 12"/>
          <p:cNvSpPr/>
          <p:nvPr/>
        </p:nvSpPr>
        <p:spPr>
          <a:xfrm>
            <a:off x="8035823" y="5455444"/>
            <a:ext cx="91775" cy="91777"/>
          </a:xfrm>
          <a:prstGeom prst="ellipse">
            <a:avLst/>
          </a:prstGeom>
          <a:solidFill>
            <a:srgbClr val="6EB9FC"/>
          </a:solidFill>
          <a:ln/>
        </p:spPr>
        <p:txBody>
          <a:bodyPr/>
          <a:p/>
        </p:txBody>
      </p:sp>
      <p:sp>
        <p:nvSpPr>
          <p:cNvPr id="16" name="Text 13"/>
          <p:cNvSpPr/>
          <p:nvPr/>
        </p:nvSpPr>
        <p:spPr>
          <a:xfrm>
            <a:off x="8296464" y="5357912"/>
            <a:ext cx="3197046" cy="269974"/>
          </a:xfrm>
          <a:prstGeom prst="rect">
            <a:avLst/>
          </a:prstGeom>
          <a:noFill/>
          <a:ln/>
        </p:spPr>
        <p:txBody>
          <a:bodyPr wrap="none" lIns="0" tIns="0" rIns="0" bIns="0" rtlCol="0" anchor="t"/>
          <a:lstStyle/>
          <a:p>
            <a:pPr marL="0" indent="0" algn="l">
              <a:lnSpc>
                <a:spcPct val="104000"/>
              </a:lnSpc>
              <a:buNone/>
            </a:pPr>
            <a:r>
              <a:rPr lang="en-US" sz="1700" dirty="0">
                <a:solidFill>
                  <a:srgbClr val="D6E5EF"/>
                </a:solidFill>
                <a:latin typeface="Lora" pitchFamily="34" charset="0"/>
                <a:ea typeface="Lora" pitchFamily="34" charset="-122"/>
                <a:cs typeface="Lora" pitchFamily="34" charset="-120"/>
              </a:rPr>
              <a:t>Verification</a:t>
            </a:r>
            <a:endParaRPr lang="en-US" sz="1700" dirty="0"/>
          </a:p>
        </p:txBody>
      </p:sp>
      <p:sp>
        <p:nvSpPr>
          <p:cNvPr id="17" name="Text 14"/>
          <p:cNvSpPr/>
          <p:nvPr/>
        </p:nvSpPr>
        <p:spPr>
          <a:xfrm>
            <a:off x="8296464" y="5729188"/>
            <a:ext cx="3197046" cy="563959"/>
          </a:xfrm>
          <a:prstGeom prst="rect">
            <a:avLst/>
          </a:prstGeom>
          <a:noFill/>
          <a:ln/>
        </p:spPr>
        <p:txBody>
          <a:bodyPr wrap="square" lIns="0" tIns="0" rIns="0" bIns="0" rtlCol="0" anchor="t">
            <a:normAutofit/>
          </a:bodyPr>
          <a:lstStyle/>
          <a:p>
            <a:pPr marL="0" indent="0" algn="l">
              <a:lnSpc>
                <a:spcPct val="128000"/>
              </a:lnSpc>
              <a:buNone/>
            </a:pPr>
            <a:r>
              <a:rPr lang="en-US" sz="1400" dirty="0">
                <a:solidFill>
                  <a:srgbClr val="D6E5EF"/>
                </a:solidFill>
                <a:latin typeface="Source Sans 3" pitchFamily="34" charset="0"/>
                <a:ea typeface="Source Sans 3" pitchFamily="34" charset="-122"/>
                <a:cs typeface="Source Sans 3" pitchFamily="34" charset="-120"/>
              </a:rPr>
              <a:t>Simulate all 8 input combinations and confirm outputs match the truth table.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773013"/>
            <a:ext cx="10795524" cy="586680"/>
          </a:xfrm>
          <a:prstGeom prst="rect">
            <a:avLst/>
          </a:prstGeom>
          <a:noFill/>
          <a:ln/>
        </p:spPr>
        <p:txBody>
          <a:bodyPr wrap="none" lIns="0" tIns="0" rIns="0" bIns="0" rtlCol="0" anchor="t"/>
          <a:lstStyle/>
          <a:p>
            <a:pPr marL="0" indent="0" algn="l">
              <a:lnSpc>
                <a:spcPct val="104000"/>
              </a:lnSpc>
              <a:buNone/>
            </a:pPr>
            <a:r>
              <a:rPr lang="en-US" sz="3650" dirty="0">
                <a:solidFill>
                  <a:srgbClr val="F98AC7"/>
                </a:solidFill>
                <a:latin typeface="Lora" pitchFamily="34" charset="0"/>
                <a:ea typeface="Lora" pitchFamily="34" charset="-122"/>
                <a:cs typeface="Lora" pitchFamily="34" charset="-120"/>
              </a:rPr>
              <a:t>Simulation &amp; Verification</a:t>
            </a:r>
            <a:endParaRPr lang="en-US" sz="3650" dirty="0"/>
          </a:p>
        </p:txBody>
      </p:sp>
      <p:pic>
        <p:nvPicPr>
          <p:cNvPr id="3" name="Image 0" descr="preencoded.png"/>
          <p:cNvPicPr>
            <a:picLocks noChangeAspect="1"/>
          </p:cNvPicPr>
          <p:nvPr/>
        </p:nvPicPr>
        <p:blipFill>
          <a:blip r:embed="rId3"/>
          <a:stretch>
            <a:fillRect/>
          </a:stretch>
        </p:blipFill>
        <p:spPr>
          <a:xfrm>
            <a:off x="698086" y="2140744"/>
            <a:ext cx="3462152" cy="3462238"/>
          </a:xfrm>
          <a:prstGeom prst="rect">
            <a:avLst/>
          </a:prstGeom>
        </p:spPr>
      </p:pic>
      <p:sp>
        <p:nvSpPr>
          <p:cNvPr id="4" name="Text 1"/>
          <p:cNvSpPr/>
          <p:nvPr/>
        </p:nvSpPr>
        <p:spPr>
          <a:xfrm>
            <a:off x="4653144" y="1858268"/>
            <a:ext cx="6846716" cy="293291"/>
          </a:xfrm>
          <a:prstGeom prst="rect">
            <a:avLst/>
          </a:prstGeom>
          <a:noFill/>
          <a:ln/>
        </p:spPr>
        <p:txBody>
          <a:bodyPr wrap="none" lIns="0" tIns="0" rIns="0" bIns="0" rtlCol="0" anchor="t"/>
          <a:lstStyle/>
          <a:p>
            <a:pPr marL="0" indent="0" algn="l">
              <a:lnSpc>
                <a:spcPct val="104000"/>
              </a:lnSpc>
              <a:buNone/>
            </a:pPr>
            <a:r>
              <a:rPr lang="en-US" sz="1800" dirty="0">
                <a:solidFill>
                  <a:srgbClr val="F98AC7"/>
                </a:solidFill>
                <a:latin typeface="Lora" pitchFamily="34" charset="0"/>
                <a:ea typeface="Lora" pitchFamily="34" charset="-122"/>
                <a:cs typeface="Lora" pitchFamily="34" charset="-120"/>
              </a:rPr>
              <a:t>Simulation Setup</a:t>
            </a:r>
            <a:endParaRPr lang="en-US" sz="1800" dirty="0"/>
          </a:p>
        </p:txBody>
      </p:sp>
      <p:sp>
        <p:nvSpPr>
          <p:cNvPr id="5" name="Text 2"/>
          <p:cNvSpPr/>
          <p:nvPr/>
        </p:nvSpPr>
        <p:spPr>
          <a:xfrm>
            <a:off x="4653144" y="2350988"/>
            <a:ext cx="6846716" cy="1485999"/>
          </a:xfrm>
          <a:prstGeom prst="rect">
            <a:avLst/>
          </a:prstGeom>
          <a:noFill/>
          <a:ln/>
        </p:spPr>
        <p:txBody>
          <a:bodyPr wrap="square" lIns="0" tIns="0" rIns="0" bIns="0" rtlCol="0" anchor="t">
            <a:normAutofit/>
          </a:bodyPr>
          <a:lstStyle/>
          <a:p>
            <a:pPr marL="314960" indent="-314960" algn="l">
              <a:lnSpc>
                <a:spcPct val="133000"/>
              </a:lnSpc>
              <a:buSzPct val="100000"/>
              <a:buChar char="•"/>
            </a:pPr>
            <a:r>
              <a:rPr lang="en-US" sz="1550" b="1" dirty="0">
                <a:solidFill>
                  <a:srgbClr val="D6E5EF"/>
                </a:solidFill>
                <a:latin typeface="Source Sans 3 Bold" pitchFamily="34" charset="0"/>
                <a:ea typeface="Source Sans 3 Bold" pitchFamily="34" charset="-122"/>
                <a:cs typeface="Source Sans 3 Bold" pitchFamily="34" charset="-120"/>
              </a:rPr>
              <a:t>Tool:</a:t>
            </a:r>
            <a:r>
              <a:rPr lang="en-US" sz="1550" dirty="0">
                <a:solidFill>
                  <a:srgbClr val="D6E5EF"/>
                </a:solidFill>
                <a:latin typeface="Source Sans 3" pitchFamily="34" charset="0"/>
                <a:ea typeface="Source Sans 3" pitchFamily="34" charset="-122"/>
                <a:cs typeface="Source Sans 3" pitchFamily="34" charset="-120"/>
              </a:rPr>
              <a:t> Logisim or equivalent digital circuit simulator</a:t>
            </a:r>
            <a:endParaRPr lang="en-US" sz="1550" dirty="0"/>
          </a:p>
          <a:p>
            <a:pPr marL="314960" indent="-314960" algn="l">
              <a:lnSpc>
                <a:spcPct val="133000"/>
              </a:lnSpc>
              <a:buSzPct val="100000"/>
              <a:buChar char="•"/>
            </a:pPr>
            <a:r>
              <a:rPr lang="en-US" sz="1550" b="1" dirty="0">
                <a:solidFill>
                  <a:srgbClr val="D6E5EF"/>
                </a:solidFill>
                <a:latin typeface="Source Sans 3 Bold" pitchFamily="34" charset="0"/>
                <a:ea typeface="Source Sans 3 Bold" pitchFamily="34" charset="-122"/>
                <a:cs typeface="Source Sans 3 Bold" pitchFamily="34" charset="-120"/>
              </a:rPr>
              <a:t>Components:</a:t>
            </a:r>
            <a:r>
              <a:rPr lang="en-US" sz="1550" dirty="0">
                <a:solidFill>
                  <a:srgbClr val="D6E5EF"/>
                </a:solidFill>
                <a:latin typeface="Source Sans 3" pitchFamily="34" charset="0"/>
                <a:ea typeface="Source Sans 3" pitchFamily="34" charset="-122"/>
                <a:cs typeface="Source Sans 3" pitchFamily="34" charset="-120"/>
              </a:rPr>
              <a:t> XOR gates, NOT gate, input switches, output LEDs</a:t>
            </a:r>
            <a:endParaRPr lang="en-US" sz="1550" dirty="0"/>
          </a:p>
          <a:p>
            <a:pPr marL="314960" indent="-314960" algn="l">
              <a:lnSpc>
                <a:spcPct val="133000"/>
              </a:lnSpc>
              <a:buSzPct val="100000"/>
              <a:buChar char="•"/>
            </a:pPr>
            <a:r>
              <a:rPr lang="en-US" sz="1550" b="1" dirty="0">
                <a:solidFill>
                  <a:srgbClr val="D6E5EF"/>
                </a:solidFill>
                <a:latin typeface="Source Sans 3 Bold" pitchFamily="34" charset="0"/>
                <a:ea typeface="Source Sans 3 Bold" pitchFamily="34" charset="-122"/>
                <a:cs typeface="Source Sans 3 Bold" pitchFamily="34" charset="-120"/>
              </a:rPr>
              <a:t>Testing:</a:t>
            </a:r>
            <a:r>
              <a:rPr lang="en-US" sz="1550" dirty="0">
                <a:solidFill>
                  <a:srgbClr val="D6E5EF"/>
                </a:solidFill>
                <a:latin typeface="Source Sans 3" pitchFamily="34" charset="0"/>
                <a:ea typeface="Source Sans 3" pitchFamily="34" charset="-122"/>
                <a:cs typeface="Source Sans 3" pitchFamily="34" charset="-120"/>
              </a:rPr>
              <a:t> Apply all 8 input combinations (000 → 111)</a:t>
            </a:r>
            <a:endParaRPr lang="en-US" sz="1550" dirty="0"/>
          </a:p>
          <a:p>
            <a:pPr marL="314960" indent="-314960" algn="l">
              <a:lnSpc>
                <a:spcPct val="133000"/>
              </a:lnSpc>
              <a:buSzPct val="100000"/>
              <a:buChar char="•"/>
            </a:pPr>
            <a:r>
              <a:rPr lang="en-US" sz="1550" b="1" dirty="0">
                <a:solidFill>
                  <a:srgbClr val="D6E5EF"/>
                </a:solidFill>
                <a:latin typeface="Source Sans 3 Bold" pitchFamily="34" charset="0"/>
                <a:ea typeface="Source Sans 3 Bold" pitchFamily="34" charset="-122"/>
                <a:cs typeface="Source Sans 3 Bold" pitchFamily="34" charset="-120"/>
              </a:rPr>
              <a:t>Verification:</a:t>
            </a:r>
            <a:r>
              <a:rPr lang="en-US" sz="1550" dirty="0">
                <a:solidFill>
                  <a:srgbClr val="D6E5EF"/>
                </a:solidFill>
                <a:latin typeface="Source Sans 3" pitchFamily="34" charset="0"/>
                <a:ea typeface="Source Sans 3" pitchFamily="34" charset="-122"/>
                <a:cs typeface="Source Sans 3" pitchFamily="34" charset="-120"/>
              </a:rPr>
              <a:t> Confirm outputs match truth table for both parities</a:t>
            </a:r>
            <a:endParaRPr lang="en-US" sz="1550" dirty="0"/>
          </a:p>
        </p:txBody>
      </p:sp>
      <p:sp>
        <p:nvSpPr>
          <p:cNvPr id="6" name="Text 3"/>
          <p:cNvSpPr/>
          <p:nvPr/>
        </p:nvSpPr>
        <p:spPr>
          <a:xfrm>
            <a:off x="4653144" y="4036417"/>
            <a:ext cx="6846716" cy="293291"/>
          </a:xfrm>
          <a:prstGeom prst="rect">
            <a:avLst/>
          </a:prstGeom>
          <a:noFill/>
          <a:ln/>
        </p:spPr>
        <p:txBody>
          <a:bodyPr wrap="none" lIns="0" tIns="0" rIns="0" bIns="0" rtlCol="0" anchor="t"/>
          <a:lstStyle/>
          <a:p>
            <a:pPr marL="0" indent="0" algn="l">
              <a:lnSpc>
                <a:spcPct val="104000"/>
              </a:lnSpc>
              <a:buNone/>
            </a:pPr>
            <a:r>
              <a:rPr lang="en-US" sz="1800" dirty="0">
                <a:solidFill>
                  <a:srgbClr val="F98AC7"/>
                </a:solidFill>
                <a:latin typeface="Lora" pitchFamily="34" charset="0"/>
                <a:ea typeface="Lora" pitchFamily="34" charset="-122"/>
                <a:cs typeface="Lora" pitchFamily="34" charset="-120"/>
              </a:rPr>
              <a:t>Why Simulate First?</a:t>
            </a:r>
            <a:endParaRPr lang="en-US" sz="1800" dirty="0"/>
          </a:p>
        </p:txBody>
      </p:sp>
      <p:sp>
        <p:nvSpPr>
          <p:cNvPr id="7" name="Text 4"/>
          <p:cNvSpPr/>
          <p:nvPr/>
        </p:nvSpPr>
        <p:spPr>
          <a:xfrm>
            <a:off x="4653144" y="4529138"/>
            <a:ext cx="6846716" cy="1485999"/>
          </a:xfrm>
          <a:prstGeom prst="rect">
            <a:avLst/>
          </a:prstGeom>
          <a:noFill/>
          <a:ln/>
        </p:spPr>
        <p:txBody>
          <a:bodyPr wrap="square" lIns="0" tIns="0" rIns="0" bIns="0" rtlCol="0" anchor="t">
            <a:normAutofit/>
          </a:bodyPr>
          <a:lstStyle/>
          <a:p>
            <a:pPr marL="314960" indent="-314960" algn="l">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Verify logic </a:t>
            </a:r>
            <a:r>
              <a:rPr lang="en-US" sz="1550" b="1" dirty="0">
                <a:solidFill>
                  <a:srgbClr val="D6E5EF"/>
                </a:solidFill>
                <a:latin typeface="Source Sans 3 Bold" pitchFamily="34" charset="0"/>
                <a:ea typeface="Source Sans 3 Bold" pitchFamily="34" charset="-122"/>
                <a:cs typeface="Source Sans 3 Bold" pitchFamily="34" charset="-120"/>
              </a:rPr>
              <a:t>before</a:t>
            </a:r>
            <a:r>
              <a:rPr lang="en-US" sz="1550" dirty="0">
                <a:solidFill>
                  <a:srgbClr val="D6E5EF"/>
                </a:solidFill>
                <a:latin typeface="Source Sans 3" pitchFamily="34" charset="0"/>
                <a:ea typeface="Source Sans 3" pitchFamily="34" charset="-122"/>
                <a:cs typeface="Source Sans 3" pitchFamily="34" charset="-120"/>
              </a:rPr>
              <a:t> physical construction</a:t>
            </a:r>
            <a:endParaRPr lang="en-US" sz="1550" dirty="0"/>
          </a:p>
          <a:p>
            <a:pPr marL="314960" indent="-314960" algn="l">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Test all edge cases quickly and safely</a:t>
            </a:r>
            <a:endParaRPr lang="en-US" sz="1550" dirty="0"/>
          </a:p>
          <a:p>
            <a:pPr marL="314960" indent="-314960" algn="l">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Identify and fix design errors early</a:t>
            </a:r>
            <a:endParaRPr lang="en-US" sz="1550" dirty="0"/>
          </a:p>
          <a:p>
            <a:pPr marL="314960" indent="-314960" algn="l">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Visualize real-time circuit behavior</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086" y="902990"/>
            <a:ext cx="10795524" cy="586680"/>
          </a:xfrm>
          <a:prstGeom prst="rect">
            <a:avLst/>
          </a:prstGeom>
          <a:noFill/>
          <a:ln/>
        </p:spPr>
        <p:txBody>
          <a:bodyPr wrap="none" lIns="0" tIns="0" rIns="0" bIns="0" rtlCol="0" anchor="t"/>
          <a:lstStyle/>
          <a:p>
            <a:pPr marL="0" indent="0" algn="l">
              <a:lnSpc>
                <a:spcPct val="104000"/>
              </a:lnSpc>
              <a:buNone/>
            </a:pPr>
            <a:r>
              <a:rPr lang="en-US" sz="3650" dirty="0">
                <a:solidFill>
                  <a:srgbClr val="F98AC7"/>
                </a:solidFill>
                <a:latin typeface="Lora" pitchFamily="34" charset="0"/>
                <a:ea typeface="Lora" pitchFamily="34" charset="-122"/>
                <a:cs typeface="Lora" pitchFamily="34" charset="-120"/>
              </a:rPr>
              <a:t>Physical Implementation</a:t>
            </a:r>
            <a:endParaRPr lang="en-US" sz="3650" dirty="0"/>
          </a:p>
        </p:txBody>
      </p:sp>
      <p:pic>
        <p:nvPicPr>
          <p:cNvPr id="3" name="Image 0" descr="preencoded.png"/>
          <p:cNvPicPr>
            <a:picLocks noChangeAspect="1"/>
          </p:cNvPicPr>
          <p:nvPr/>
        </p:nvPicPr>
        <p:blipFill>
          <a:blip r:embed="rId3"/>
          <a:stretch>
            <a:fillRect/>
          </a:stretch>
        </p:blipFill>
        <p:spPr>
          <a:xfrm>
            <a:off x="698086" y="1888629"/>
            <a:ext cx="1105170" cy="1105198"/>
          </a:xfrm>
          <a:prstGeom prst="rect">
            <a:avLst/>
          </a:prstGeom>
        </p:spPr>
      </p:pic>
      <p:sp>
        <p:nvSpPr>
          <p:cNvPr id="4" name="Text 1"/>
          <p:cNvSpPr/>
          <p:nvPr/>
        </p:nvSpPr>
        <p:spPr>
          <a:xfrm>
            <a:off x="698086" y="3243163"/>
            <a:ext cx="2511858" cy="293291"/>
          </a:xfrm>
          <a:prstGeom prst="rect">
            <a:avLst/>
          </a:prstGeom>
          <a:noFill/>
          <a:ln/>
        </p:spPr>
        <p:txBody>
          <a:bodyPr wrap="none" lIns="0" tIns="0" rIns="0" bIns="0" rtlCol="0" anchor="t"/>
          <a:lstStyle/>
          <a:p>
            <a:pPr marL="0" indent="0" algn="l">
              <a:lnSpc>
                <a:spcPct val="104000"/>
              </a:lnSpc>
              <a:buNone/>
            </a:pPr>
            <a:r>
              <a:rPr lang="en-US" sz="1800" dirty="0">
                <a:solidFill>
                  <a:srgbClr val="D6E5EF"/>
                </a:solidFill>
                <a:latin typeface="Lora" pitchFamily="34" charset="0"/>
                <a:ea typeface="Lora" pitchFamily="34" charset="-122"/>
                <a:cs typeface="Lora" pitchFamily="34" charset="-120"/>
              </a:rPr>
              <a:t>IC 7486 — XOR Gate</a:t>
            </a:r>
            <a:endParaRPr lang="en-US" sz="1800" dirty="0"/>
          </a:p>
        </p:txBody>
      </p:sp>
      <p:sp>
        <p:nvSpPr>
          <p:cNvPr id="5" name="Text 2"/>
          <p:cNvSpPr/>
          <p:nvPr/>
        </p:nvSpPr>
        <p:spPr>
          <a:xfrm>
            <a:off x="698086" y="3656112"/>
            <a:ext cx="2511858"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D6E5EF"/>
                </a:solidFill>
                <a:latin typeface="Source Sans 3" pitchFamily="34" charset="0"/>
                <a:ea typeface="Source Sans 3" pitchFamily="34" charset="-122"/>
                <a:cs typeface="Source Sans 3" pitchFamily="34" charset="-120"/>
              </a:rPr>
              <a:t>Quad 2-input XOR gate. Two gates cascade to implement </a:t>
            </a:r>
            <a:r>
              <a:rPr lang="en-US" sz="1550" dirty="0">
                <a:solidFill>
                  <a:srgbClr val="6366F1"/>
                </a:solidFill>
                <a:latin typeface="Source Sans 3" pitchFamily="34" charset="0"/>
                <a:ea typeface="Source Sans 3" pitchFamily="34" charset="-122"/>
                <a:cs typeface="Source Sans 3" pitchFamily="34" charset="-120"/>
              </a:rPr>
              <a:t>Pₑ = A ⊕ B ⊕ C</a:t>
            </a:r>
            <a:r>
              <a:rPr lang="en-US" sz="1550" dirty="0">
                <a:solidFill>
                  <a:srgbClr val="D6E5EF"/>
                </a:solidFill>
                <a:latin typeface="Source Sans 3" pitchFamily="34" charset="0"/>
                <a:ea typeface="Source Sans 3" pitchFamily="34" charset="-122"/>
                <a:cs typeface="Source Sans 3" pitchFamily="34" charset="-120"/>
              </a:rPr>
              <a:t>.</a:t>
            </a:r>
            <a:endParaRPr lang="en-US" sz="1550" dirty="0"/>
          </a:p>
        </p:txBody>
      </p:sp>
      <p:pic>
        <p:nvPicPr>
          <p:cNvPr id="6" name="Image 1" descr="preencoded.png"/>
          <p:cNvPicPr>
            <a:picLocks noChangeAspect="1"/>
          </p:cNvPicPr>
          <p:nvPr/>
        </p:nvPicPr>
        <p:blipFill>
          <a:blip r:embed="rId4"/>
          <a:stretch>
            <a:fillRect/>
          </a:stretch>
        </p:blipFill>
        <p:spPr>
          <a:xfrm>
            <a:off x="3459274" y="1888629"/>
            <a:ext cx="1105170" cy="1105198"/>
          </a:xfrm>
          <a:prstGeom prst="rect">
            <a:avLst/>
          </a:prstGeom>
        </p:spPr>
      </p:pic>
      <p:sp>
        <p:nvSpPr>
          <p:cNvPr id="7" name="Text 3"/>
          <p:cNvSpPr/>
          <p:nvPr/>
        </p:nvSpPr>
        <p:spPr>
          <a:xfrm>
            <a:off x="3459274" y="3243163"/>
            <a:ext cx="2511858" cy="293291"/>
          </a:xfrm>
          <a:prstGeom prst="rect">
            <a:avLst/>
          </a:prstGeom>
          <a:noFill/>
          <a:ln/>
        </p:spPr>
        <p:txBody>
          <a:bodyPr wrap="none" lIns="0" tIns="0" rIns="0" bIns="0" rtlCol="0" anchor="t"/>
          <a:lstStyle/>
          <a:p>
            <a:pPr marL="0" indent="0" algn="l">
              <a:lnSpc>
                <a:spcPct val="104000"/>
              </a:lnSpc>
              <a:buNone/>
            </a:pPr>
            <a:r>
              <a:rPr lang="en-US" sz="1800" dirty="0">
                <a:solidFill>
                  <a:srgbClr val="D6E5EF"/>
                </a:solidFill>
                <a:latin typeface="Lora" pitchFamily="34" charset="0"/>
                <a:ea typeface="Lora" pitchFamily="34" charset="-122"/>
                <a:cs typeface="Lora" pitchFamily="34" charset="-120"/>
              </a:rPr>
              <a:t>IC 7404 — NOT Gate</a:t>
            </a:r>
            <a:endParaRPr lang="en-US" sz="1800" dirty="0"/>
          </a:p>
        </p:txBody>
      </p:sp>
      <p:sp>
        <p:nvSpPr>
          <p:cNvPr id="8" name="Text 4"/>
          <p:cNvSpPr/>
          <p:nvPr/>
        </p:nvSpPr>
        <p:spPr>
          <a:xfrm>
            <a:off x="3459274" y="3656112"/>
            <a:ext cx="2511858" cy="957560"/>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D6E5EF"/>
                </a:solidFill>
                <a:latin typeface="Source Sans 3" pitchFamily="34" charset="0"/>
                <a:ea typeface="Source Sans 3" pitchFamily="34" charset="-122"/>
                <a:cs typeface="Source Sans 3" pitchFamily="34" charset="-120"/>
              </a:rPr>
              <a:t>Hex inverter. Complements the XOR output to produce </a:t>
            </a:r>
            <a:r>
              <a:rPr lang="en-US" sz="1550" dirty="0">
                <a:solidFill>
                  <a:srgbClr val="8B5CF6"/>
                </a:solidFill>
                <a:latin typeface="Source Sans 3" pitchFamily="34" charset="0"/>
                <a:ea typeface="Source Sans 3" pitchFamily="34" charset="-122"/>
                <a:cs typeface="Source Sans 3" pitchFamily="34" charset="-120"/>
              </a:rPr>
              <a:t>Pₒ</a:t>
            </a:r>
            <a:r>
              <a:rPr lang="en-US" sz="1550" dirty="0">
                <a:solidFill>
                  <a:srgbClr val="D6E5EF"/>
                </a:solidFill>
                <a:latin typeface="Source Sans 3" pitchFamily="34" charset="0"/>
                <a:ea typeface="Source Sans 3" pitchFamily="34" charset="-122"/>
                <a:cs typeface="Source Sans 3" pitchFamily="34" charset="-120"/>
              </a:rPr>
              <a:t> (odd parity).</a:t>
            </a:r>
            <a:endParaRPr lang="en-US" sz="1550" dirty="0"/>
          </a:p>
        </p:txBody>
      </p:sp>
      <p:pic>
        <p:nvPicPr>
          <p:cNvPr id="9" name="Image 2" descr="preencoded.png"/>
          <p:cNvPicPr>
            <a:picLocks noChangeAspect="1"/>
          </p:cNvPicPr>
          <p:nvPr/>
        </p:nvPicPr>
        <p:blipFill>
          <a:blip r:embed="rId5"/>
          <a:stretch>
            <a:fillRect/>
          </a:stretch>
        </p:blipFill>
        <p:spPr>
          <a:xfrm>
            <a:off x="6220463" y="1888629"/>
            <a:ext cx="1105170" cy="1105198"/>
          </a:xfrm>
          <a:prstGeom prst="rect">
            <a:avLst/>
          </a:prstGeom>
        </p:spPr>
      </p:pic>
      <p:sp>
        <p:nvSpPr>
          <p:cNvPr id="10" name="Text 5"/>
          <p:cNvSpPr/>
          <p:nvPr/>
        </p:nvSpPr>
        <p:spPr>
          <a:xfrm>
            <a:off x="6220463" y="3243163"/>
            <a:ext cx="2511858" cy="293291"/>
          </a:xfrm>
          <a:prstGeom prst="rect">
            <a:avLst/>
          </a:prstGeom>
          <a:noFill/>
          <a:ln/>
        </p:spPr>
        <p:txBody>
          <a:bodyPr wrap="none" lIns="0" tIns="0" rIns="0" bIns="0" rtlCol="0" anchor="t"/>
          <a:lstStyle/>
          <a:p>
            <a:pPr marL="0" indent="0" algn="l">
              <a:lnSpc>
                <a:spcPct val="104000"/>
              </a:lnSpc>
              <a:buNone/>
            </a:pPr>
            <a:r>
              <a:rPr lang="en-US" sz="1800" dirty="0">
                <a:solidFill>
                  <a:srgbClr val="D6E5EF"/>
                </a:solidFill>
                <a:latin typeface="Lora" pitchFamily="34" charset="0"/>
                <a:ea typeface="Lora" pitchFamily="34" charset="-122"/>
                <a:cs typeface="Lora" pitchFamily="34" charset="-120"/>
              </a:rPr>
              <a:t>Breadboard &amp; Wiring</a:t>
            </a:r>
            <a:endParaRPr lang="en-US" sz="1800" dirty="0"/>
          </a:p>
        </p:txBody>
      </p:sp>
      <p:sp>
        <p:nvSpPr>
          <p:cNvPr id="11" name="Text 6"/>
          <p:cNvSpPr/>
          <p:nvPr/>
        </p:nvSpPr>
        <p:spPr>
          <a:xfrm>
            <a:off x="6220463" y="3656112"/>
            <a:ext cx="2511858" cy="1276747"/>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D6E5EF"/>
                </a:solidFill>
                <a:latin typeface="Source Sans 3" pitchFamily="34" charset="0"/>
                <a:ea typeface="Source Sans 3" pitchFamily="34" charset="-122"/>
                <a:cs typeface="Source Sans 3" pitchFamily="34" charset="-120"/>
              </a:rPr>
              <a:t>Circuit assembled on breadboard with toggle switches for inputs A, B, C and LEDs for output indication.</a:t>
            </a:r>
            <a:endParaRPr lang="en-US" sz="1550" dirty="0"/>
          </a:p>
        </p:txBody>
      </p:sp>
      <p:pic>
        <p:nvPicPr>
          <p:cNvPr id="12" name="Image 3" descr="preencoded.png"/>
          <p:cNvPicPr>
            <a:picLocks noChangeAspect="1"/>
          </p:cNvPicPr>
          <p:nvPr/>
        </p:nvPicPr>
        <p:blipFill>
          <a:blip r:embed="rId6"/>
          <a:stretch>
            <a:fillRect/>
          </a:stretch>
        </p:blipFill>
        <p:spPr>
          <a:xfrm>
            <a:off x="8981652" y="1888629"/>
            <a:ext cx="1105170" cy="1105198"/>
          </a:xfrm>
          <a:prstGeom prst="rect">
            <a:avLst/>
          </a:prstGeom>
        </p:spPr>
      </p:pic>
      <p:sp>
        <p:nvSpPr>
          <p:cNvPr id="13" name="Text 7"/>
          <p:cNvSpPr/>
          <p:nvPr/>
        </p:nvSpPr>
        <p:spPr>
          <a:xfrm>
            <a:off x="8981652" y="3243163"/>
            <a:ext cx="2511957" cy="293291"/>
          </a:xfrm>
          <a:prstGeom prst="rect">
            <a:avLst/>
          </a:prstGeom>
          <a:noFill/>
          <a:ln/>
        </p:spPr>
        <p:txBody>
          <a:bodyPr wrap="none" lIns="0" tIns="0" rIns="0" bIns="0" rtlCol="0" anchor="t"/>
          <a:lstStyle/>
          <a:p>
            <a:pPr marL="0" indent="0" algn="l">
              <a:lnSpc>
                <a:spcPct val="104000"/>
              </a:lnSpc>
              <a:buNone/>
            </a:pPr>
            <a:r>
              <a:rPr lang="en-US" sz="1800" dirty="0">
                <a:solidFill>
                  <a:srgbClr val="D6E5EF"/>
                </a:solidFill>
                <a:latin typeface="Lora" pitchFamily="34" charset="0"/>
                <a:ea typeface="Lora" pitchFamily="34" charset="-122"/>
                <a:cs typeface="Lora" pitchFamily="34" charset="-120"/>
              </a:rPr>
              <a:t>Power &amp; Testing</a:t>
            </a:r>
            <a:endParaRPr lang="en-US" sz="1800" dirty="0"/>
          </a:p>
        </p:txBody>
      </p:sp>
      <p:sp>
        <p:nvSpPr>
          <p:cNvPr id="14" name="Text 8"/>
          <p:cNvSpPr/>
          <p:nvPr/>
        </p:nvSpPr>
        <p:spPr>
          <a:xfrm>
            <a:off x="8981652" y="3656112"/>
            <a:ext cx="2511957" cy="1276747"/>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D6E5EF"/>
                </a:solidFill>
                <a:latin typeface="Source Sans 3" pitchFamily="34" charset="0"/>
                <a:ea typeface="Source Sans 3" pitchFamily="34" charset="-122"/>
                <a:cs typeface="Source Sans 3" pitchFamily="34" charset="-120"/>
              </a:rPr>
              <a:t>+5V DC supply. Apply all 8 combinations and verify LED outputs against the truth table.</a:t>
            </a:r>
            <a:endParaRPr lang="en-US" sz="1550" dirty="0"/>
          </a:p>
        </p:txBody>
      </p:sp>
      <p:sp>
        <p:nvSpPr>
          <p:cNvPr id="15" name="Shape 9"/>
          <p:cNvSpPr/>
          <p:nvPr/>
        </p:nvSpPr>
        <p:spPr>
          <a:xfrm>
            <a:off x="698086" y="5157192"/>
            <a:ext cx="10795524" cy="797719"/>
          </a:xfrm>
          <a:prstGeom prst="roundRect">
            <a:avLst>
              <a:gd name="adj" fmla="val 3751"/>
            </a:avLst>
          </a:prstGeom>
          <a:solidFill>
            <a:srgbClr val="790645"/>
          </a:solidFill>
          <a:ln/>
        </p:spPr>
        <p:txBody>
          <a:bodyPr/>
          <a:p/>
        </p:txBody>
      </p:sp>
      <p:pic>
        <p:nvPicPr>
          <p:cNvPr id="16" name="Image 4" descr="preencoded.png"/>
          <p:cNvPicPr>
            <a:picLocks noChangeAspect="1"/>
          </p:cNvPicPr>
          <p:nvPr/>
        </p:nvPicPr>
        <p:blipFill>
          <a:blip r:embed="rId7"/>
          <a:stretch>
            <a:fillRect/>
          </a:stretch>
        </p:blipFill>
        <p:spPr>
          <a:xfrm>
            <a:off x="897510" y="5447804"/>
            <a:ext cx="249330" cy="199430"/>
          </a:xfrm>
          <a:prstGeom prst="rect">
            <a:avLst/>
          </a:prstGeom>
        </p:spPr>
      </p:pic>
      <p:sp>
        <p:nvSpPr>
          <p:cNvPr id="17" name="Text 10"/>
          <p:cNvSpPr/>
          <p:nvPr/>
        </p:nvSpPr>
        <p:spPr>
          <a:xfrm>
            <a:off x="1346266" y="5406430"/>
            <a:ext cx="10557504" cy="319187"/>
          </a:xfrm>
          <a:prstGeom prst="rect">
            <a:avLst/>
          </a:prstGeom>
          <a:noFill/>
          <a:ln/>
        </p:spPr>
        <p:txBody>
          <a:bodyPr wrap="none" lIns="0" tIns="0" rIns="0" bIns="0" rtlCol="0" anchor="t"/>
          <a:lstStyle/>
          <a:p>
            <a:pPr marL="0" indent="0" algn="l">
              <a:lnSpc>
                <a:spcPct val="133000"/>
              </a:lnSpc>
              <a:buNone/>
            </a:pPr>
            <a:r>
              <a:rPr lang="en-US" sz="1550" b="1" dirty="0">
                <a:solidFill>
                  <a:srgbClr val="FFFFFF"/>
                </a:solidFill>
                <a:latin typeface="Source Sans 3 Bold" pitchFamily="34" charset="0"/>
                <a:ea typeface="Source Sans 3 Bold" pitchFamily="34" charset="-122"/>
                <a:cs typeface="Source Sans 3 Bold" pitchFamily="34" charset="-120"/>
              </a:rPr>
              <a:t>Process:</a:t>
            </a:r>
            <a:r>
              <a:rPr lang="en-US" sz="1550" dirty="0">
                <a:solidFill>
                  <a:srgbClr val="FFFFFF"/>
                </a:solidFill>
                <a:latin typeface="Source Sans 3" pitchFamily="34" charset="0"/>
                <a:ea typeface="Source Sans 3" pitchFamily="34" charset="-122"/>
                <a:cs typeface="Source Sans 3" pitchFamily="34" charset="-120"/>
              </a:rPr>
              <a:t> Simulation → Breadboard Layout → Physical Wiring → Testing &amp; Verification</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444752"/>
          </a:solidFill>
          <a:ln/>
        </p:spPr>
        <p:txBody>
          <a:bodyPr/>
          <a:p/>
        </p:txBody>
      </p:sp>
      <p:pic>
        <p:nvPicPr>
          <p:cNvPr id="3" name="Image 0" descr="preencoded.png"/>
          <p:cNvPicPr>
            <a:picLocks noChangeAspect="1"/>
          </p:cNvPicPr>
          <p:nvPr/>
        </p:nvPicPr>
        <p:blipFill>
          <a:blip r:embed="rId3"/>
          <a:stretch>
            <a:fillRect/>
          </a:stretch>
        </p:blipFill>
        <p:spPr>
          <a:xfrm>
            <a:off x="74710" y="480616"/>
            <a:ext cx="4422466" cy="5896769"/>
          </a:xfrm>
          <a:prstGeom prst="rect">
            <a:avLst/>
          </a:prstGeom>
        </p:spPr>
      </p:pic>
      <p:sp>
        <p:nvSpPr>
          <p:cNvPr id="4" name="Text 1"/>
          <p:cNvSpPr/>
          <p:nvPr/>
        </p:nvSpPr>
        <p:spPr>
          <a:xfrm>
            <a:off x="5269971" y="724297"/>
            <a:ext cx="6223638" cy="440035"/>
          </a:xfrm>
          <a:prstGeom prst="rect">
            <a:avLst/>
          </a:prstGeom>
          <a:noFill/>
          <a:ln/>
        </p:spPr>
        <p:txBody>
          <a:bodyPr wrap="none" lIns="0" tIns="0" rIns="0" bIns="0" rtlCol="0" anchor="t"/>
          <a:lstStyle/>
          <a:p>
            <a:pPr marL="0" indent="0" algn="l">
              <a:lnSpc>
                <a:spcPct val="104000"/>
              </a:lnSpc>
              <a:buNone/>
            </a:pPr>
            <a:r>
              <a:rPr lang="en-US" sz="2750" dirty="0">
                <a:solidFill>
                  <a:srgbClr val="F98AC7"/>
                </a:solidFill>
                <a:latin typeface="Lora" pitchFamily="34" charset="0"/>
                <a:ea typeface="Lora" pitchFamily="34" charset="-122"/>
                <a:cs typeface="Lora" pitchFamily="34" charset="-120"/>
              </a:rPr>
              <a:t>Results, Applications &amp; Conclusion</a:t>
            </a:r>
            <a:endParaRPr lang="en-US" sz="2750" dirty="0"/>
          </a:p>
        </p:txBody>
      </p:sp>
      <p:sp>
        <p:nvSpPr>
          <p:cNvPr id="5" name="Text 2"/>
          <p:cNvSpPr/>
          <p:nvPr/>
        </p:nvSpPr>
        <p:spPr>
          <a:xfrm>
            <a:off x="5269971" y="1444724"/>
            <a:ext cx="2929360" cy="219968"/>
          </a:xfrm>
          <a:prstGeom prst="rect">
            <a:avLst/>
          </a:prstGeom>
          <a:noFill/>
          <a:ln/>
        </p:spPr>
        <p:txBody>
          <a:bodyPr wrap="none" lIns="0" tIns="0" rIns="0" bIns="0" rtlCol="0" anchor="t"/>
          <a:lstStyle/>
          <a:p>
            <a:pPr marL="0" indent="0" algn="l">
              <a:lnSpc>
                <a:spcPct val="104000"/>
              </a:lnSpc>
              <a:buNone/>
            </a:pPr>
            <a:r>
              <a:rPr lang="en-US" sz="1350" dirty="0">
                <a:solidFill>
                  <a:srgbClr val="F98AC7"/>
                </a:solidFill>
                <a:latin typeface="Lora" pitchFamily="34" charset="0"/>
                <a:ea typeface="Lora" pitchFamily="34" charset="-122"/>
                <a:cs typeface="Lora" pitchFamily="34" charset="-120"/>
              </a:rPr>
              <a:t>✓ Project Results</a:t>
            </a:r>
            <a:endParaRPr lang="en-US" sz="1350" dirty="0"/>
          </a:p>
        </p:txBody>
      </p:sp>
      <p:sp>
        <p:nvSpPr>
          <p:cNvPr id="6" name="Text 3"/>
          <p:cNvSpPr/>
          <p:nvPr/>
        </p:nvSpPr>
        <p:spPr>
          <a:xfrm>
            <a:off x="5269971" y="1776809"/>
            <a:ext cx="2929360" cy="2251273"/>
          </a:xfrm>
          <a:prstGeom prst="rect">
            <a:avLst/>
          </a:prstGeom>
          <a:noFill/>
          <a:ln/>
        </p:spPr>
        <p:txBody>
          <a:bodyPr wrap="square" lIns="0" tIns="0" rIns="0" bIns="0" rtlCol="0" anchor="t">
            <a:normAutofit/>
          </a:bodyPr>
          <a:lstStyle/>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Designed 3-bit even and odd parity generators</a:t>
            </a:r>
            <a:endParaRPr lang="en-US" sz="1150" dirty="0"/>
          </a:p>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Used XOR (7486) and NOT (7404) gates as core logic elements</a:t>
            </a:r>
            <a:endParaRPr lang="en-US" sz="1150" dirty="0"/>
          </a:p>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Verified design using comprehensive 8-row truth tables</a:t>
            </a:r>
            <a:endParaRPr lang="en-US" sz="1150" dirty="0"/>
          </a:p>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Successfully simulated the circuit in Logisim</a:t>
            </a:r>
            <a:endParaRPr lang="en-US" sz="1150" dirty="0"/>
          </a:p>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Demonstrated combinational logic bridging theory and practice</a:t>
            </a:r>
            <a:endParaRPr lang="en-US" sz="1150" dirty="0"/>
          </a:p>
        </p:txBody>
      </p:sp>
      <p:sp>
        <p:nvSpPr>
          <p:cNvPr id="7" name="Text 4"/>
          <p:cNvSpPr/>
          <p:nvPr/>
        </p:nvSpPr>
        <p:spPr>
          <a:xfrm>
            <a:off x="8570599" y="1444724"/>
            <a:ext cx="2929360" cy="219968"/>
          </a:xfrm>
          <a:prstGeom prst="rect">
            <a:avLst/>
          </a:prstGeom>
          <a:noFill/>
          <a:ln/>
        </p:spPr>
        <p:txBody>
          <a:bodyPr wrap="none" lIns="0" tIns="0" rIns="0" bIns="0" rtlCol="0" anchor="t"/>
          <a:lstStyle/>
          <a:p>
            <a:pPr marL="0" indent="0" algn="l">
              <a:lnSpc>
                <a:spcPct val="104000"/>
              </a:lnSpc>
              <a:buNone/>
            </a:pPr>
            <a:r>
              <a:rPr lang="en-US" sz="1350" dirty="0">
                <a:solidFill>
                  <a:srgbClr val="F98AC7"/>
                </a:solidFill>
                <a:latin typeface="Lora" pitchFamily="34" charset="0"/>
                <a:ea typeface="Lora" pitchFamily="34" charset="-122"/>
                <a:cs typeface="Lora" pitchFamily="34" charset="-120"/>
              </a:rPr>
              <a:t>Real-World Applications</a:t>
            </a:r>
            <a:endParaRPr lang="en-US" sz="1350" dirty="0"/>
          </a:p>
        </p:txBody>
      </p:sp>
      <p:sp>
        <p:nvSpPr>
          <p:cNvPr id="8" name="Text 5"/>
          <p:cNvSpPr/>
          <p:nvPr/>
        </p:nvSpPr>
        <p:spPr>
          <a:xfrm>
            <a:off x="8570599" y="1776809"/>
            <a:ext cx="2929360" cy="1374279"/>
          </a:xfrm>
          <a:prstGeom prst="rect">
            <a:avLst/>
          </a:prstGeom>
          <a:noFill/>
          <a:ln/>
        </p:spPr>
        <p:txBody>
          <a:bodyPr wrap="square" lIns="0" tIns="0" rIns="0" bIns="0" rtlCol="0" anchor="t">
            <a:normAutofit/>
          </a:bodyPr>
          <a:lstStyle/>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Digital communication &amp; data transmission</a:t>
            </a:r>
            <a:endParaRPr lang="en-US" sz="1150" dirty="0"/>
          </a:p>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Error detection in memory systems (RAM, ROM)</a:t>
            </a:r>
            <a:endParaRPr lang="en-US" sz="1150" dirty="0"/>
          </a:p>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Computer networks &amp; communication protocols</a:t>
            </a:r>
            <a:endParaRPr lang="en-US" sz="1150" dirty="0"/>
          </a:p>
          <a:p>
            <a:pPr marL="233680" indent="-233680" algn="l">
              <a:lnSpc>
                <a:spcPct val="117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Data storage &amp; integrity verification</a:t>
            </a:r>
            <a:endParaRPr lang="en-US" sz="1150" dirty="0"/>
          </a:p>
        </p:txBody>
      </p:sp>
      <p:sp>
        <p:nvSpPr>
          <p:cNvPr id="9" name="Text 6"/>
          <p:cNvSpPr/>
          <p:nvPr/>
        </p:nvSpPr>
        <p:spPr>
          <a:xfrm>
            <a:off x="5494299" y="4319687"/>
            <a:ext cx="5999310" cy="1047353"/>
          </a:xfrm>
          <a:prstGeom prst="rect">
            <a:avLst/>
          </a:prstGeom>
          <a:noFill/>
          <a:ln/>
        </p:spPr>
        <p:txBody>
          <a:bodyPr wrap="square" lIns="0" tIns="0" rIns="0" bIns="0" rtlCol="0" anchor="t">
            <a:normAutofit/>
          </a:bodyPr>
          <a:lstStyle/>
          <a:p>
            <a:pPr marL="0" indent="0" algn="l">
              <a:lnSpc>
                <a:spcPct val="117000"/>
              </a:lnSpc>
              <a:buNone/>
            </a:pPr>
            <a:r>
              <a:rPr lang="en-US" sz="1450" b="1" dirty="0">
                <a:solidFill>
                  <a:srgbClr val="6366F1"/>
                </a:solidFill>
                <a:latin typeface="Source Sans 3 Bold" pitchFamily="34" charset="0"/>
                <a:ea typeface="Source Sans 3 Bold" pitchFamily="34" charset="-122"/>
                <a:cs typeface="Source Sans 3 Bold" pitchFamily="34" charset="-120"/>
              </a:rPr>
              <a:t>Thank you</a:t>
            </a:r>
            <a:r>
              <a:rPr lang="en-US" sz="1450" dirty="0">
                <a:solidFill>
                  <a:srgbClr val="D6E5EF"/>
                </a:solidFill>
                <a:latin typeface="Source Sans 3" pitchFamily="34" charset="0"/>
                <a:ea typeface="Source Sans 3" pitchFamily="34" charset="-122"/>
                <a:cs typeface="Source Sans 3" pitchFamily="34" charset="-120"/>
              </a:rPr>
              <a:t> to our audience for your time and attention, to our instructors for their guidance and support, and to our team members for their dedication and collaboration throughout this project. We truly appreciate everyone who helped make this work possible.</a:t>
            </a:r>
            <a:endParaRPr lang="en-US" sz="1450" dirty="0"/>
          </a:p>
        </p:txBody>
      </p:sp>
      <p:sp>
        <p:nvSpPr>
          <p:cNvPr id="10" name="Shape 7"/>
          <p:cNvSpPr/>
          <p:nvPr/>
        </p:nvSpPr>
        <p:spPr>
          <a:xfrm>
            <a:off x="5269971" y="4193480"/>
            <a:ext cx="19050" cy="1299766"/>
          </a:xfrm>
          <a:prstGeom prst="roundRect">
            <a:avLst>
              <a:gd name="adj" fmla="val 49999"/>
            </a:avLst>
          </a:prstGeom>
          <a:solidFill>
            <a:srgbClr val="F98AC7"/>
          </a:solidFill>
          <a:ln/>
        </p:spPr>
        <p:txBody>
          <a:bodyPr/>
          <a:p/>
        </p:txBody>
      </p:sp>
      <p:sp>
        <p:nvSpPr>
          <p:cNvPr id="11" name="Text 8"/>
          <p:cNvSpPr/>
          <p:nvPr/>
        </p:nvSpPr>
        <p:spPr>
          <a:xfrm>
            <a:off x="5494299" y="5745659"/>
            <a:ext cx="6608895" cy="261838"/>
          </a:xfrm>
          <a:prstGeom prst="rect">
            <a:avLst/>
          </a:prstGeom>
          <a:noFill/>
          <a:ln/>
        </p:spPr>
        <p:txBody>
          <a:bodyPr wrap="none" lIns="0" tIns="0" rIns="0" bIns="0" rtlCol="0" anchor="t"/>
          <a:lstStyle/>
          <a:p>
            <a:pPr marL="0" indent="0" algn="l">
              <a:lnSpc>
                <a:spcPct val="117000"/>
              </a:lnSpc>
              <a:buNone/>
            </a:pPr>
            <a:r>
              <a:rPr lang="en-US" sz="1450" b="1" dirty="0">
                <a:solidFill>
                  <a:srgbClr val="D6E5EF"/>
                </a:solidFill>
                <a:latin typeface="Source Sans 3 Bold" pitchFamily="34" charset="0"/>
                <a:ea typeface="Source Sans 3 Bold" pitchFamily="34" charset="-122"/>
                <a:cs typeface="Source Sans 3 Bold" pitchFamily="34" charset="-120"/>
              </a:rPr>
              <a:t>Thank You</a:t>
            </a:r>
            <a:endParaRPr lang="en-US" sz="1450" dirty="0"/>
          </a:p>
        </p:txBody>
      </p:sp>
      <p:sp>
        <p:nvSpPr>
          <p:cNvPr id="12" name="Shape 9"/>
          <p:cNvSpPr/>
          <p:nvPr/>
        </p:nvSpPr>
        <p:spPr>
          <a:xfrm>
            <a:off x="5269971" y="5619452"/>
            <a:ext cx="19050" cy="514251"/>
          </a:xfrm>
          <a:prstGeom prst="roundRect">
            <a:avLst>
              <a:gd name="adj" fmla="val 49999"/>
            </a:avLst>
          </a:prstGeom>
          <a:solidFill>
            <a:srgbClr val="F98AC7"/>
          </a:solid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920</Words>
  <Application>Microsoft Office PowerPoint</Application>
  <PresentationFormat>Widescreen</PresentationFormat>
  <Paragraphs>191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Lora</vt:lpstr>
      <vt:lpstr>Arial</vt:lpstr>
      <vt:lpstr>Source Sans 3</vt:lpstr>
      <vt:lpstr>Source Sans 3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Bavesh</dc:creator>
  <cp:lastModifiedBy>baveshkurn@outlook.com</cp:lastModifiedBy>
  <cp:revision>1</cp:revision>
  <dcterms:created xsi:type="dcterms:W3CDTF">2026-09-11T10:16:08Z</dcterms:created>
  <dcterms:modified xsi:type="dcterms:W3CDTF">2026-09-12T13:31:40Z</dcterms:modified>
</cp:coreProperties>
</file>